
<file path=[Content_Types].xml><?xml version="1.0" encoding="utf-8"?>
<Types xmlns="http://schemas.openxmlformats.org/package/2006/content-types"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B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5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9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org&amp;utm_campaign=index&amp;utm_content=thumbnai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https://altuswealthmgt.com/wp-content/uploads/2025/03/ai-graph.png">
            <a:extLst>
              <a:ext uri="{FF2B5EF4-FFF2-40B4-BE49-F238E27FC236}">
                <a16:creationId xmlns:a16="http://schemas.microsoft.com/office/drawing/2014/main" id="{F1E5DFDC-4F12-D6CE-EB79-07BC09CCF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361" y="-89225"/>
            <a:ext cx="12369470" cy="7069888"/>
          </a:xfrm>
          <a:prstGeom prst="rect">
            <a:avLst/>
          </a:prstGeom>
        </p:spPr>
      </p:pic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AA36C28C-44D1-95E5-63D0-CB49C89E828E}"/>
              </a:ext>
            </a:extLst>
          </p:cNvPr>
          <p:cNvSpPr/>
          <p:nvPr/>
        </p:nvSpPr>
        <p:spPr>
          <a:xfrm>
            <a:off x="702527" y="1137424"/>
            <a:ext cx="10705171" cy="5051503"/>
          </a:xfrm>
          <a:prstGeom prst="roundRect">
            <a:avLst>
              <a:gd name="adj" fmla="val 3201"/>
            </a:avLst>
          </a:prstGeom>
          <a:solidFill>
            <a:srgbClr val="1E4B82">
              <a:alpha val="529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endParaRPr lang="es-ES_tradnl" sz="1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defRPr sz="1400" b="1">
                <a:solidFill>
                  <a:srgbClr val="0284C7"/>
                </a:solidFill>
              </a:defRPr>
            </a:pPr>
            <a:r>
              <a:rPr lang="es-ES_tradnl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MAESTRÍA EN CIENCIAS DE LA INFORMACIÓN Y LAS COMUNICACIONES</a:t>
            </a:r>
          </a:p>
          <a:p>
            <a:pPr>
              <a:spcBef>
                <a:spcPts val="1600"/>
              </a:spcBef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rPr lang="es-ES_tradnl" sz="6000" dirty="0"/>
              <a:t>Revisión Estadística de Variables:</a:t>
            </a:r>
            <a:br>
              <a:rPr lang="es-ES_tradnl" sz="6000" dirty="0"/>
            </a:br>
            <a:r>
              <a:rPr lang="es-ES_tradnl" sz="6000" dirty="0" err="1"/>
              <a:t>Dataset</a:t>
            </a:r>
            <a:r>
              <a:rPr lang="es-ES_tradnl" sz="6000" dirty="0"/>
              <a:t> Bank Marketing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rPr lang="es-ES_tradnl" sz="1400" dirty="0"/>
              <a:t>Guía Metodológica de Inferencia, Pruebas de Hipótesis y Diagnóstico previo a Modelos de Inteligencia Computacional</a:t>
            </a:r>
          </a:p>
          <a:p>
            <a:pPr>
              <a:spcBef>
                <a:spcPts val="3600"/>
              </a:spcBef>
              <a:defRPr sz="1300">
                <a:solidFill>
                  <a:srgbClr val="0284C7"/>
                </a:solidFill>
              </a:defRPr>
            </a:pPr>
            <a:r>
              <a:rPr lang="es-ES_tradnl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Asignatura: Inteligencia Computacional  |  Universidad Distrital Francisco José de Caldas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s-ES_tradnl" dirty="0"/>
              <a:t>ANÁLISIS ESTADÍSTICO DE VARIABLES — DATASET BANK MARKETING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rPr lang="es-ES_tradnl" dirty="0"/>
              <a:t>1. Contexto del Problema y Estructura de </a:t>
            </a:r>
            <a:r>
              <a:rPr lang="es-ES_tradnl" dirty="0" err="1"/>
              <a:t>Datasets</a:t>
            </a:r>
            <a:endParaRPr lang="es-ES_tradnl"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TextBox 4"/>
          <p:cNvSpPr txBox="1"/>
          <p:nvPr/>
        </p:nvSpPr>
        <p:spPr>
          <a:xfrm>
            <a:off x="1005840" y="2214631"/>
            <a:ext cx="4663440" cy="346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lang="es-ES_tradnl" dirty="0"/>
              <a:t>Objetivo de Clasificación Binaria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s-ES_tradnl" sz="1400" dirty="0"/>
              <a:t>Predecir si un cliente bancario suscribirá un depósito a plazo fijo (variable y ∈ {'yes', 'no'}) tras contactos de telemarketing directo (Moro et al., 2011, 2014).</a:t>
            </a:r>
          </a:p>
          <a:p>
            <a:pPr>
              <a:spcBef>
                <a:spcPts val="1400"/>
              </a:spcBef>
              <a:defRPr sz="1400" b="1">
                <a:solidFill>
                  <a:srgbClr val="1E293B"/>
                </a:solidFill>
              </a:defRPr>
            </a:pPr>
            <a:r>
              <a:rPr lang="es-ES_tradnl" sz="1600" dirty="0"/>
              <a:t>Estructura de </a:t>
            </a:r>
            <a:r>
              <a:rPr lang="es-ES_tradnl" sz="1600" dirty="0" err="1"/>
              <a:t>Datasets</a:t>
            </a:r>
            <a:r>
              <a:rPr lang="es-ES_tradnl" sz="1600" dirty="0"/>
              <a:t> en la Carpeta: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rPr lang="es-ES_tradnl" sz="1400" dirty="0"/>
              <a:t>• </a:t>
            </a:r>
            <a:r>
              <a:rPr lang="es-ES_tradnl" sz="1400" b="1" dirty="0"/>
              <a:t>Bank UCI Estándar (</a:t>
            </a:r>
            <a:r>
              <a:rPr lang="es-ES_tradnl" sz="1400" b="1" dirty="0" err="1"/>
              <a:t>bank.csv</a:t>
            </a:r>
            <a:r>
              <a:rPr lang="es-ES_tradnl" sz="1400" b="1" dirty="0"/>
              <a:t> / </a:t>
            </a:r>
            <a:r>
              <a:rPr lang="es-ES_tradnl" sz="1400" b="1" dirty="0" err="1"/>
              <a:t>bank-full.csv</a:t>
            </a:r>
            <a:r>
              <a:rPr lang="es-ES_tradnl" sz="1400" b="1" dirty="0"/>
              <a:t>):</a:t>
            </a:r>
            <a:r>
              <a:rPr lang="es-ES_tradnl" sz="1400" dirty="0"/>
              <a:t> 16 predictores (7 continuos, 9 categóricos). N=45,211 (muestra 4,521).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rPr lang="es-ES_tradnl" sz="1400" dirty="0"/>
              <a:t>• </a:t>
            </a:r>
            <a:r>
              <a:rPr lang="es-ES_tradnl" sz="1400" b="1" dirty="0"/>
              <a:t>Bank </a:t>
            </a:r>
            <a:r>
              <a:rPr lang="es-ES_tradnl" sz="1400" b="1" dirty="0" err="1"/>
              <a:t>Additional</a:t>
            </a:r>
            <a:r>
              <a:rPr lang="es-ES_tradnl" sz="1400" b="1" dirty="0"/>
              <a:t> (</a:t>
            </a:r>
            <a:r>
              <a:rPr lang="es-ES_tradnl" sz="1400" b="1" dirty="0" err="1"/>
              <a:t>bank-additional.csv</a:t>
            </a:r>
            <a:r>
              <a:rPr lang="es-ES_tradnl" sz="1400" b="1" dirty="0"/>
              <a:t> / </a:t>
            </a:r>
            <a:r>
              <a:rPr lang="es-ES_tradnl" sz="1400" b="1" dirty="0" err="1"/>
              <a:t>bank-additional-full.csv</a:t>
            </a:r>
            <a:r>
              <a:rPr lang="es-ES_tradnl" sz="1400" b="1" dirty="0"/>
              <a:t>):</a:t>
            </a:r>
            <a:r>
              <a:rPr lang="es-ES_tradnl" sz="1400" dirty="0"/>
              <a:t> 20 predictores (10 continuos, 10 categóricos). N=41,188 (muestra 4,119).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rPr lang="es-ES_tradnl" sz="1400" dirty="0"/>
              <a:t>• </a:t>
            </a:r>
            <a:r>
              <a:rPr lang="es-ES_tradnl" sz="1400" b="1" dirty="0"/>
              <a:t>Nuevas Variables </a:t>
            </a:r>
            <a:r>
              <a:rPr lang="es-ES_tradnl" sz="1400" b="1" dirty="0" err="1"/>
              <a:t>Additional</a:t>
            </a:r>
            <a:r>
              <a:rPr lang="es-ES_tradnl" sz="1400" b="1" dirty="0"/>
              <a:t>:</a:t>
            </a:r>
            <a:r>
              <a:rPr lang="es-ES_tradnl" sz="1400" dirty="0"/>
              <a:t> 5 indicadores socioeconómicos nacionales del Banco de Portugal.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" name="TextBox 6"/>
          <p:cNvSpPr txBox="1"/>
          <p:nvPr/>
        </p:nvSpPr>
        <p:spPr>
          <a:xfrm>
            <a:off x="6492240" y="1855321"/>
            <a:ext cx="46634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lang="es-ES_tradnl" dirty="0"/>
              <a:t>Bloques de Atributos Clave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rPr lang="es-ES_tradnl" sz="1600" dirty="0"/>
              <a:t>Demográficos / Cliente: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rPr lang="es-ES_tradnl" sz="1400" dirty="0" err="1"/>
              <a:t>age</a:t>
            </a:r>
            <a:r>
              <a:rPr lang="es-ES_tradnl" sz="1400" dirty="0"/>
              <a:t>, </a:t>
            </a:r>
            <a:r>
              <a:rPr lang="es-ES_tradnl" sz="1400" dirty="0" err="1"/>
              <a:t>job</a:t>
            </a:r>
            <a:r>
              <a:rPr lang="es-ES_tradnl" sz="1400" dirty="0"/>
              <a:t>, marital, </a:t>
            </a:r>
            <a:r>
              <a:rPr lang="es-ES_tradnl" sz="1400" dirty="0" err="1"/>
              <a:t>education</a:t>
            </a:r>
            <a:r>
              <a:rPr lang="es-ES_tradnl" sz="1400" dirty="0"/>
              <a:t>, default, </a:t>
            </a:r>
            <a:r>
              <a:rPr lang="es-ES_tradnl" sz="1400" dirty="0" err="1"/>
              <a:t>housing</a:t>
            </a:r>
            <a:r>
              <a:rPr lang="es-ES_tradnl" sz="1400" dirty="0"/>
              <a:t>, loan, balance (en UCI).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rPr lang="es-ES_tradnl" sz="1600" dirty="0"/>
              <a:t>Contacto Actual: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rPr lang="es-ES_tradnl" sz="1400" dirty="0" err="1"/>
              <a:t>contact</a:t>
            </a:r>
            <a:r>
              <a:rPr lang="es-ES_tradnl" sz="1400" dirty="0"/>
              <a:t>, </a:t>
            </a:r>
            <a:r>
              <a:rPr lang="es-ES_tradnl" sz="1400" dirty="0" err="1"/>
              <a:t>month</a:t>
            </a:r>
            <a:r>
              <a:rPr lang="es-ES_tradnl" sz="1400" dirty="0"/>
              <a:t>, </a:t>
            </a:r>
            <a:r>
              <a:rPr lang="es-ES_tradnl" sz="1400" dirty="0" err="1"/>
              <a:t>day</a:t>
            </a:r>
            <a:r>
              <a:rPr lang="es-ES_tradnl" sz="1400" dirty="0"/>
              <a:t>/</a:t>
            </a:r>
            <a:r>
              <a:rPr lang="es-ES_tradnl" sz="1400" dirty="0" err="1"/>
              <a:t>day_of_week</a:t>
            </a:r>
            <a:r>
              <a:rPr lang="es-ES_tradnl" sz="1400" dirty="0"/>
              <a:t>, </a:t>
            </a:r>
            <a:r>
              <a:rPr lang="es-ES_tradnl" sz="1400" dirty="0" err="1"/>
              <a:t>duration</a:t>
            </a:r>
            <a:r>
              <a:rPr lang="es-ES_tradnl" sz="1400" dirty="0"/>
              <a:t> (duración en </a:t>
            </a:r>
            <a:r>
              <a:rPr lang="es-ES_tradnl" sz="1400" dirty="0" err="1"/>
              <a:t>segs</a:t>
            </a:r>
            <a:r>
              <a:rPr lang="es-ES_tradnl" sz="1400" dirty="0"/>
              <a:t>; </a:t>
            </a:r>
            <a:r>
              <a:rPr lang="es-ES_tradnl" sz="1400" i="1" dirty="0"/>
              <a:t>data </a:t>
            </a:r>
            <a:r>
              <a:rPr lang="es-ES_tradnl" sz="1400" i="1" dirty="0" err="1"/>
              <a:t>leakage</a:t>
            </a:r>
            <a:r>
              <a:rPr lang="es-ES_tradnl" sz="1400" i="1" dirty="0"/>
              <a:t> potencial</a:t>
            </a:r>
            <a:r>
              <a:rPr lang="es-ES_tradnl" sz="1400" dirty="0"/>
              <a:t>).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rPr lang="es-ES_tradnl" sz="1600" dirty="0"/>
              <a:t>Histórico Previo: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rPr lang="es-ES_tradnl" sz="1400" dirty="0" err="1"/>
              <a:t>campaign</a:t>
            </a:r>
            <a:r>
              <a:rPr lang="es-ES_tradnl" sz="1400" dirty="0"/>
              <a:t> (contactos actuales), </a:t>
            </a:r>
            <a:r>
              <a:rPr lang="es-ES_tradnl" sz="1400" dirty="0" err="1"/>
              <a:t>pdays</a:t>
            </a:r>
            <a:r>
              <a:rPr lang="es-ES_tradnl" sz="1400" dirty="0"/>
              <a:t> (días desde último contacto), </a:t>
            </a:r>
            <a:r>
              <a:rPr lang="es-ES_tradnl" sz="1400" dirty="0" err="1"/>
              <a:t>previous</a:t>
            </a:r>
            <a:r>
              <a:rPr lang="es-ES_tradnl" sz="1400" dirty="0"/>
              <a:t>, </a:t>
            </a:r>
            <a:r>
              <a:rPr lang="es-ES_tradnl" sz="1400" dirty="0" err="1"/>
              <a:t>poutcome</a:t>
            </a:r>
            <a:r>
              <a:rPr lang="es-ES_tradnl" sz="1400" dirty="0"/>
              <a:t>.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rPr lang="es-ES_tradnl" sz="1600" dirty="0"/>
              <a:t>Macroeconómicos (</a:t>
            </a:r>
            <a:r>
              <a:rPr lang="es-ES_tradnl" sz="1600" dirty="0" err="1"/>
              <a:t>Additional</a:t>
            </a:r>
            <a:r>
              <a:rPr lang="es-ES_tradnl" sz="1600" dirty="0"/>
              <a:t>):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rPr lang="es-ES_tradnl" sz="1400" dirty="0" err="1"/>
              <a:t>emp.var.rate</a:t>
            </a:r>
            <a:r>
              <a:rPr lang="es-ES_tradnl" sz="1400" dirty="0"/>
              <a:t> (empleo), </a:t>
            </a:r>
            <a:r>
              <a:rPr lang="es-ES_tradnl" sz="1400" dirty="0" err="1"/>
              <a:t>cons.price.idx</a:t>
            </a:r>
            <a:r>
              <a:rPr lang="es-ES_tradnl" sz="1400" dirty="0"/>
              <a:t> (IPC), </a:t>
            </a:r>
            <a:r>
              <a:rPr lang="es-ES_tradnl" sz="1400" dirty="0" err="1"/>
              <a:t>cons.conf.idx</a:t>
            </a:r>
            <a:r>
              <a:rPr lang="es-ES_tradnl" sz="1400" dirty="0"/>
              <a:t> (confianza), euribor3m (Euribor 3M), </a:t>
            </a:r>
            <a:r>
              <a:rPr lang="es-ES_tradnl" sz="1400" dirty="0" err="1"/>
              <a:t>nr.employed</a:t>
            </a:r>
            <a:r>
              <a:rPr lang="es-ES_tradnl" sz="1400" dirty="0"/>
              <a:t> (empleados).</a:t>
            </a:r>
          </a:p>
        </p:txBody>
      </p:sp>
      <p:pic>
        <p:nvPicPr>
          <p:cNvPr id="8" name="Imagen 7" descr="Tal Cual, Garantía - YouTube">
            <a:extLst>
              <a:ext uri="{FF2B5EF4-FFF2-40B4-BE49-F238E27FC236}">
                <a16:creationId xmlns:a16="http://schemas.microsoft.com/office/drawing/2014/main" id="{FA230208-6991-4E57-7707-53775EBE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67051" y="5239958"/>
            <a:ext cx="2628026" cy="1983802"/>
          </a:xfrm>
          <a:prstGeom prst="rect">
            <a:avLst/>
          </a:prstGeom>
        </p:spPr>
      </p:pic>
      <p:pic>
        <p:nvPicPr>
          <p:cNvPr id="10" name="Imagen 9" descr="Euribor - Wikipedia">
            <a:extLst>
              <a:ext uri="{FF2B5EF4-FFF2-40B4-BE49-F238E27FC236}">
                <a16:creationId xmlns:a16="http://schemas.microsoft.com/office/drawing/2014/main" id="{96152E5A-EB56-4A0A-304D-22CB5B70A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091" y="6321580"/>
            <a:ext cx="1987240" cy="993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s-ES_tradnl" dirty="0"/>
              <a:t>ANÁLISIS ESTADÍSTICO DE VARIABLES — DATASET BANK MARKETING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rPr lang="es-ES_tradnl" dirty="0"/>
              <a:t>2. Cadena Metodológica de Inferencia Estadística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632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lang="es-ES_tradnl" sz="1600" dirty="0"/>
              <a:t>Paso 1: Exploración &amp; Tipificación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Identificar continuas, discretas y categóricas. Estadísticos descriptivos (media, mediana, asimetría, curtosis).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632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lang="es-ES_tradnl" sz="1600" dirty="0"/>
              <a:t>Paso 2: Pruebas de Normalidad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Shapiro-Wilk (n&lt;5000) o K-S </a:t>
            </a:r>
            <a:r>
              <a:rPr lang="es-ES_tradnl" sz="1400" dirty="0" err="1"/>
              <a:t>Lilliefors</a:t>
            </a:r>
            <a:r>
              <a:rPr lang="es-ES_tradnl" sz="1400" dirty="0"/>
              <a:t> y D'Agostino-Pearson global y condicional por clase (y='yes' / y='no').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632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lang="es-ES_tradnl" sz="1600" dirty="0"/>
              <a:t>Paso 3: Homocedasticidad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Levene y </a:t>
            </a:r>
            <a:r>
              <a:rPr lang="es-ES_tradnl" sz="1400" dirty="0" err="1"/>
              <a:t>Fligner</a:t>
            </a:r>
            <a:r>
              <a:rPr lang="es-ES_tradnl" sz="1400" dirty="0"/>
              <a:t>-Killeen para evaluar igualdad de varianzas entre grupos. Condiciona la validez paramétrica.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632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lang="es-ES_tradnl" sz="1600" dirty="0"/>
              <a:t>Paso 4: Comparación entre Clases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Mann-Whitney U (no paramétrica 2 muestras) vs. t-test Student/Welch según supuestos.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306324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lang="es-ES_tradnl" sz="1600" dirty="0"/>
              <a:t>Paso 5: Asociación &amp; Multicolinealidad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Chi-cuadrado + V de </a:t>
            </a:r>
            <a:r>
              <a:rPr lang="es-ES_tradnl" sz="1400" dirty="0" err="1"/>
              <a:t>Cramér</a:t>
            </a:r>
            <a:r>
              <a:rPr lang="es-ES_tradnl" sz="1400" dirty="0"/>
              <a:t> en categóricas. Pearson/Spearman, VIF e Índice de Condición en continuas.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306324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lang="es-ES_tradnl" sz="1600" dirty="0"/>
              <a:t>Paso 6: </a:t>
            </a:r>
            <a:r>
              <a:rPr lang="es-ES_tradnl" sz="1600" dirty="0" err="1"/>
              <a:t>Outliers</a:t>
            </a:r>
            <a:r>
              <a:rPr lang="es-ES_tradnl" sz="1600" dirty="0"/>
              <a:t>, Balance &amp; Proyección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IQR 1.5x, </a:t>
            </a:r>
            <a:r>
              <a:rPr lang="es-ES_tradnl" sz="1400" dirty="0" err="1"/>
              <a:t>Mahalanobis</a:t>
            </a:r>
            <a:r>
              <a:rPr lang="es-ES_tradnl" sz="1400" dirty="0"/>
              <a:t> multivariado, Test Binomial de balance de clase y proyección PCA 2D.</a:t>
            </a:r>
          </a:p>
        </p:txBody>
      </p:sp>
      <p:pic>
        <p:nvPicPr>
          <p:cNvPr id="16" name="Imagen 15" descr="Homocedasticidad - Definición, qué es y concepto | Economipedia">
            <a:extLst>
              <a:ext uri="{FF2B5EF4-FFF2-40B4-BE49-F238E27FC236}">
                <a16:creationId xmlns:a16="http://schemas.microsoft.com/office/drawing/2014/main" id="{F1417662-936B-7524-495A-E9A0271C7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165" y="2730051"/>
            <a:ext cx="1522110" cy="858102"/>
          </a:xfrm>
          <a:prstGeom prst="rect">
            <a:avLst/>
          </a:prstGeom>
        </p:spPr>
      </p:pic>
      <p:pic>
        <p:nvPicPr>
          <p:cNvPr id="17" name="Imagen 16" descr="500+] Dora La Exploradora Fondos de pantalla | Wallpapers.com">
            <a:extLst>
              <a:ext uri="{FF2B5EF4-FFF2-40B4-BE49-F238E27FC236}">
                <a16:creationId xmlns:a16="http://schemas.microsoft.com/office/drawing/2014/main" id="{FE99C04F-7059-ECC7-708E-E650E27DC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826" y="2799189"/>
            <a:ext cx="588387" cy="828287"/>
          </a:xfrm>
          <a:prstGeom prst="rect">
            <a:avLst/>
          </a:prstGeom>
        </p:spPr>
      </p:pic>
      <p:pic>
        <p:nvPicPr>
          <p:cNvPr id="18" name="Imagen 17" descr="Importancia de Conocer la Normalidad de los Datos Utilizados en los  Trabajos de Investigación por Tesistas">
            <a:extLst>
              <a:ext uri="{FF2B5EF4-FFF2-40B4-BE49-F238E27FC236}">
                <a16:creationId xmlns:a16="http://schemas.microsoft.com/office/drawing/2014/main" id="{BB022505-FD36-33DA-8D59-0AE2EC8E9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455" y="2890629"/>
            <a:ext cx="2260290" cy="687914"/>
          </a:xfrm>
          <a:prstGeom prst="rect">
            <a:avLst/>
          </a:prstGeom>
        </p:spPr>
      </p:pic>
      <p:pic>
        <p:nvPicPr>
          <p:cNvPr id="19" name="Imagen 18" descr="por qué eres así - El Deforma - Un no-ticiero de verdad">
            <a:extLst>
              <a:ext uri="{FF2B5EF4-FFF2-40B4-BE49-F238E27FC236}">
                <a16:creationId xmlns:a16="http://schemas.microsoft.com/office/drawing/2014/main" id="{A6986E94-044E-83C3-6837-6BFD792E3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7775" y="5329509"/>
            <a:ext cx="996487" cy="654360"/>
          </a:xfrm>
          <a:prstGeom prst="rect">
            <a:avLst/>
          </a:prstGeom>
        </p:spPr>
      </p:pic>
      <p:pic>
        <p:nvPicPr>
          <p:cNvPr id="20" name="Imagen 19" descr="8 Multicolinealidad | Introducción al Modelo Clásico de Regresión para  Científicos de Datos en R">
            <a:extLst>
              <a:ext uri="{FF2B5EF4-FFF2-40B4-BE49-F238E27FC236}">
                <a16:creationId xmlns:a16="http://schemas.microsoft.com/office/drawing/2014/main" id="{8E9E611C-48D3-2BEB-032D-571F7A098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683" y="5422850"/>
            <a:ext cx="856633" cy="618996"/>
          </a:xfrm>
          <a:prstGeom prst="rect">
            <a:avLst/>
          </a:prstGeom>
        </p:spPr>
      </p:pic>
      <p:pic>
        <p:nvPicPr>
          <p:cNvPr id="22" name="Imagen 21" descr="Ley trans: La lección de Buzz Lightyear sobre el precepto">
            <a:extLst>
              <a:ext uri="{FF2B5EF4-FFF2-40B4-BE49-F238E27FC236}">
                <a16:creationId xmlns:a16="http://schemas.microsoft.com/office/drawing/2014/main" id="{2D9BE4B1-7A03-D51F-72AA-CB3700664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314" y="5488027"/>
            <a:ext cx="1100437" cy="6189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s-ES_tradnl" dirty="0"/>
              <a:t>ANÁLISIS ESTADÍSTICO DE VARIABLES — DATASET BANK MARKETING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rPr lang="es-ES_tradnl" dirty="0"/>
              <a:t>3. Comprobación de Supuestos: Normalidad y Homocedasticidad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14400" y="1645920"/>
                <a:ext cx="5303520" cy="38120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500" b="1">
                    <a:solidFill>
                      <a:srgbClr val="1E293B"/>
                    </a:solidFill>
                  </a:defRPr>
                </a:pPr>
                <a:r>
                  <a:rPr lang="es-ES_tradnl" sz="1600" dirty="0"/>
                  <a:t>Resultados de Normalidad y Homocedasticidad</a:t>
                </a:r>
              </a:p>
              <a:p>
                <a:pPr>
                  <a:spcBef>
                    <a:spcPts val="800"/>
                  </a:spcBef>
                  <a:defRPr sz="1200">
                    <a:solidFill>
                      <a:srgbClr val="0F172A"/>
                    </a:solidFill>
                  </a:defRPr>
                </a:pPr>
                <a:endParaRPr lang="es-ES_tradnl" sz="1400" dirty="0"/>
              </a:p>
              <a:p>
                <a:pPr>
                  <a:spcBef>
                    <a:spcPts val="800"/>
                  </a:spcBef>
                  <a:defRPr sz="1200">
                    <a:solidFill>
                      <a:srgbClr val="0F172A"/>
                    </a:solidFill>
                  </a:defRPr>
                </a:pPr>
                <a:r>
                  <a:rPr lang="es-ES_tradnl" sz="1400" dirty="0"/>
                  <a:t>• </a:t>
                </a:r>
                <a:r>
                  <a:rPr lang="es-ES_tradnl" sz="1400" b="1" dirty="0"/>
                  <a:t>Normalidad (Shapiro-Wilk / KS </a:t>
                </a:r>
                <a:r>
                  <a:rPr lang="es-ES_tradnl" sz="1400" b="1" dirty="0" err="1"/>
                  <a:t>Lilliefors</a:t>
                </a:r>
                <a:r>
                  <a:rPr lang="es-ES_tradnl" sz="1400" b="1" dirty="0"/>
                  <a:t> / D'Agostino):</a:t>
                </a:r>
                <a:r>
                  <a:rPr lang="es-ES_tradnl" sz="1400" dirty="0"/>
                  <a:t> Todas las variables numéricas rechazan normalidad con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419" sz="1400" b="0" i="1" smtClean="0">
                            <a:latin typeface="Cambria Math" panose="02040503050406030204" pitchFamily="18" charset="0"/>
                          </a:rPr>
                          <m:t>&lt;10</m:t>
                        </m:r>
                      </m:e>
                      <m:sup>
                        <m:r>
                          <a:rPr lang="es-419" sz="14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sup>
                    </m:sSup>
                  </m:oMath>
                </a14:m>
                <a:r>
                  <a:rPr lang="es-ES_tradnl" sz="1400" dirty="0"/>
                  <a:t> (global y por clase).</a:t>
                </a:r>
                <a:br>
                  <a:rPr lang="es-ES_tradnl" sz="1400" dirty="0"/>
                </a:br>
                <a:r>
                  <a:rPr lang="es-ES_tradnl" sz="1400" b="1" dirty="0"/>
                  <a:t>• Homocedasticidad (Levene):</a:t>
                </a:r>
                <a:r>
                  <a:rPr lang="es-ES_tradnl" sz="1400" dirty="0"/>
                  <a:t> Rechazo contundente en </a:t>
                </a:r>
                <a:r>
                  <a:rPr lang="es-ES_tradnl" sz="1400" dirty="0" err="1"/>
                  <a:t>duration</a:t>
                </a:r>
                <a:r>
                  <a:rPr lang="es-ES_tradnl" sz="1400" dirty="0"/>
                  <a:t> (p=1.97e-76), </a:t>
                </a:r>
                <a:r>
                  <a:rPr lang="es-ES_tradnl" sz="1400" dirty="0" err="1"/>
                  <a:t>pdays</a:t>
                </a:r>
                <a:r>
                  <a:rPr lang="es-ES_tradnl" sz="1400" dirty="0"/>
                  <a:t> (p=1.44e-106), </a:t>
                </a:r>
                <a:r>
                  <a:rPr lang="es-ES_tradnl" sz="1400" dirty="0" err="1"/>
                  <a:t>nr.employed</a:t>
                </a:r>
                <a:r>
                  <a:rPr lang="es-ES_tradnl" sz="1400" dirty="0"/>
                  <a:t> (p=7.48e-29), </a:t>
                </a:r>
                <a:r>
                  <a:rPr lang="es-ES_tradnl" sz="1400" dirty="0" err="1"/>
                  <a:t>previous</a:t>
                </a:r>
                <a:r>
                  <a:rPr lang="es-ES_tradnl" sz="1400" dirty="0"/>
                  <a:t> (p=1.73e-62), </a:t>
                </a:r>
                <a:r>
                  <a:rPr lang="es-ES_tradnl" sz="1400" dirty="0" err="1"/>
                  <a:t>age</a:t>
                </a:r>
                <a:r>
                  <a:rPr lang="es-ES_tradnl" sz="1400" dirty="0"/>
                  <a:t> (p=4.22e-15).</a:t>
                </a:r>
              </a:p>
              <a:p>
                <a:pPr>
                  <a:spcBef>
                    <a:spcPts val="1200"/>
                  </a:spcBef>
                  <a:defRPr sz="1400" b="1">
                    <a:solidFill>
                      <a:srgbClr val="E11D48"/>
                    </a:solidFill>
                  </a:defRPr>
                </a:pPr>
                <a:endParaRPr lang="es-ES_tradnl" dirty="0"/>
              </a:p>
              <a:p>
                <a:pPr>
                  <a:spcBef>
                    <a:spcPts val="1200"/>
                  </a:spcBef>
                  <a:defRPr sz="1400" b="1">
                    <a:solidFill>
                      <a:srgbClr val="E11D48"/>
                    </a:solidFill>
                  </a:defRPr>
                </a:pPr>
                <a:r>
                  <a:rPr lang="es-ES_tradnl" sz="1600" dirty="0"/>
                  <a:t>Justificación de la Ruta No Paramétrica:</a:t>
                </a:r>
              </a:p>
              <a:p>
                <a:pPr>
                  <a:spcBef>
                    <a:spcPts val="600"/>
                  </a:spcBef>
                  <a:defRPr sz="1200">
                    <a:solidFill>
                      <a:srgbClr val="64748B"/>
                    </a:solidFill>
                  </a:defRPr>
                </a:pPr>
                <a:r>
                  <a:rPr lang="es-ES_tradnl" sz="1400" dirty="0"/>
                  <a:t>El incumplimiento simultáneo de normalidad y homogeneidad de varianzas invalida el uso del t-test de Student y ANOVA paramétrico. Se adopta estrictamente el test de Mann-Whitney U (Wilcoxon </a:t>
                </a:r>
                <a:r>
                  <a:rPr lang="es-ES_tradnl" sz="1400" dirty="0" err="1"/>
                  <a:t>rank</a:t>
                </a:r>
                <a:r>
                  <a:rPr lang="es-ES_tradnl" sz="1400" dirty="0"/>
                  <a:t>-sum) para comparar medianas/rangos entre clases.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45920"/>
                <a:ext cx="5303520" cy="3812006"/>
              </a:xfrm>
              <a:prstGeom prst="rect">
                <a:avLst/>
              </a:prstGeom>
              <a:blipFill>
                <a:blip r:embed="rId2"/>
                <a:stretch>
                  <a:fillRect l="-718" t="-332" r="-95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7" name="Picture 6" descr="duration_diagnostico.png"/>
          <p:cNvPicPr>
            <a:picLocks noChangeAspect="1"/>
          </p:cNvPicPr>
          <p:nvPr/>
        </p:nvPicPr>
        <p:blipFill>
          <a:blip r:embed="rId3"/>
          <a:srcRect r="65381"/>
          <a:stretch>
            <a:fillRect/>
          </a:stretch>
        </p:blipFill>
        <p:spPr>
          <a:xfrm>
            <a:off x="7592865" y="1554480"/>
            <a:ext cx="2710861" cy="2409387"/>
          </a:xfrm>
          <a:prstGeom prst="rect">
            <a:avLst/>
          </a:prstGeom>
        </p:spPr>
      </p:pic>
      <p:pic>
        <p:nvPicPr>
          <p:cNvPr id="8" name="Picture 6" descr="duration_diagnostico.png">
            <a:extLst>
              <a:ext uri="{FF2B5EF4-FFF2-40B4-BE49-F238E27FC236}">
                <a16:creationId xmlns:a16="http://schemas.microsoft.com/office/drawing/2014/main" id="{678F3DB2-DD87-68EC-FCB8-160BFDFA22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93"/>
          <a:stretch>
            <a:fillRect/>
          </a:stretch>
        </p:blipFill>
        <p:spPr>
          <a:xfrm>
            <a:off x="6990528" y="3963867"/>
            <a:ext cx="4197011" cy="19804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s-ES_tradnl" dirty="0"/>
              <a:t>ANÁLISIS ESTADÍSTICO DE VARIABLES — DATASET BANK MARKETING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rPr lang="es-ES_tradnl" dirty="0"/>
              <a:t>4. Relevancia y Capacidad Discriminante de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rPr lang="es-ES_tradnl" dirty="0"/>
              <a:t>Ranking de Variables Continuas (Bank </a:t>
            </a:r>
            <a:r>
              <a:rPr lang="es-ES_tradnl" dirty="0" err="1"/>
              <a:t>Additional</a:t>
            </a:r>
            <a:r>
              <a:rPr lang="es-ES_tradnl" dirty="0"/>
              <a:t>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624115"/>
              </p:ext>
            </p:extLst>
          </p:nvPr>
        </p:nvGraphicFramePr>
        <p:xfrm>
          <a:off x="914400" y="2011680"/>
          <a:ext cx="5303520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es-ES_tradnl" sz="1050" dirty="0"/>
                        <a:t>Variable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es-ES_tradnl" sz="1050" dirty="0"/>
                        <a:t>p Mann-Whitney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es-ES_tradnl" sz="1050" dirty="0" err="1"/>
                        <a:t>Info</a:t>
                      </a:r>
                      <a:r>
                        <a:rPr lang="es-ES_tradnl" sz="1050" dirty="0"/>
                        <a:t> Mutua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es-ES_tradnl" sz="1050" dirty="0"/>
                        <a:t>Capacidad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 err="1"/>
                        <a:t>duration</a:t>
                      </a:r>
                      <a:endParaRPr lang="es-ES_tradn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2.08e-110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1º (Predictor más fuerte)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euribor3m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2.38e-65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2º (Tasa Euribor macro)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 err="1"/>
                        <a:t>cons.conf.idx</a:t>
                      </a:r>
                      <a:endParaRPr lang="es-ES_tradn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2.67e-03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3º (Confianza consumidor)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 err="1"/>
                        <a:t>cons.price.idx</a:t>
                      </a:r>
                      <a:endParaRPr lang="es-ES_tradn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4.42e-08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4º (Índice precios IPC)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 err="1"/>
                        <a:t>nr.employed</a:t>
                      </a:r>
                      <a:endParaRPr lang="es-ES_tradn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2.22e-70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5º (Número empleados)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 err="1"/>
                        <a:t>emp.var.rate</a:t>
                      </a:r>
                      <a:endParaRPr lang="es-ES_tradn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2.45e-50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6º (Tasa variación empleo)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 err="1"/>
                        <a:t>pdays</a:t>
                      </a:r>
                      <a:endParaRPr lang="es-ES_tradn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6.91e-101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7º (Días contacto previo)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 err="1"/>
                        <a:t>previous</a:t>
                      </a:r>
                      <a:endParaRPr lang="es-ES_tradn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1.02e-43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8º (Contactos anteriores)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 err="1"/>
                        <a:t>campaign</a:t>
                      </a:r>
                      <a:endParaRPr lang="es-ES_tradn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9.19e-05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9º (Llamadas campaña actual)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 err="1"/>
                        <a:t>age</a:t>
                      </a:r>
                      <a:endParaRPr lang="es-ES_tradnl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0.1420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0.0056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lang="es-ES_tradnl" sz="1000" dirty="0"/>
                        <a:t>10º (No discrimina en mediana)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8" name="Picture 7" descr="euribor3m_diagnostico.png"/>
          <p:cNvPicPr>
            <a:picLocks noChangeAspect="1"/>
          </p:cNvPicPr>
          <p:nvPr/>
        </p:nvPicPr>
        <p:blipFill>
          <a:blip r:embed="rId2"/>
          <a:srcRect r="65452"/>
          <a:stretch>
            <a:fillRect/>
          </a:stretch>
        </p:blipFill>
        <p:spPr>
          <a:xfrm>
            <a:off x="7770223" y="1645920"/>
            <a:ext cx="2259149" cy="2012043"/>
          </a:xfrm>
          <a:prstGeom prst="rect">
            <a:avLst/>
          </a:prstGeom>
        </p:spPr>
      </p:pic>
      <p:pic>
        <p:nvPicPr>
          <p:cNvPr id="9" name="Picture 7" descr="euribor3m_diagnostico.png">
            <a:extLst>
              <a:ext uri="{FF2B5EF4-FFF2-40B4-BE49-F238E27FC236}">
                <a16:creationId xmlns:a16="http://schemas.microsoft.com/office/drawing/2014/main" id="{FCF34FA4-D31E-25D2-8A28-8A478D92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28"/>
          <a:stretch>
            <a:fillRect/>
          </a:stretch>
        </p:blipFill>
        <p:spPr>
          <a:xfrm>
            <a:off x="6787500" y="3840480"/>
            <a:ext cx="4505340" cy="20668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s-ES_tradnl" dirty="0"/>
              <a:t>ANÁLISIS ESTADÍSTICO DE VARIABLES — DATASET BANK MARKETING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rPr lang="es-ES_tradnl" dirty="0"/>
              <a:t>5. Asociación de Variables Categóricas frente al Target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052319"/>
            <a:ext cx="4846320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rPr lang="es-ES_tradnl" dirty="0"/>
              <a:t>Resultados de Chi-Cuadrado y V de </a:t>
            </a:r>
            <a:r>
              <a:rPr lang="es-ES_tradnl" dirty="0" err="1"/>
              <a:t>Cramér</a:t>
            </a:r>
            <a:endParaRPr lang="es-ES_tradnl" dirty="0"/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rPr lang="es-ES_tradnl" sz="1600" dirty="0" err="1"/>
              <a:t>poutcome</a:t>
            </a:r>
            <a:r>
              <a:rPr lang="es-ES_tradnl" sz="1600" dirty="0"/>
              <a:t> (V=0.332, p &lt; 10^-90):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Mayor predictor categórico. Clientes con '</a:t>
            </a:r>
            <a:r>
              <a:rPr lang="es-ES_tradnl" sz="1400" dirty="0" err="1"/>
              <a:t>success</a:t>
            </a:r>
            <a:r>
              <a:rPr lang="es-ES_tradnl" sz="1400" dirty="0"/>
              <a:t>' previo tienen &gt;65% probabilidad de suscribir.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rPr lang="es-ES_tradnl" sz="1600" dirty="0" err="1"/>
              <a:t>month</a:t>
            </a:r>
            <a:r>
              <a:rPr lang="es-ES_tradnl" sz="1600" dirty="0"/>
              <a:t> (V=0.270, p &lt; 10^-50):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Estacionalidad determinante. Marzo, </a:t>
            </a:r>
            <a:r>
              <a:rPr lang="es-ES_tradnl" sz="1400" dirty="0" err="1"/>
              <a:t>sep</a:t>
            </a:r>
            <a:r>
              <a:rPr lang="es-ES_tradnl" sz="1400" dirty="0"/>
              <a:t>, oct y dic presentan tasas de conversión muy superiores a mayo.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rPr lang="es-ES_tradnl" sz="1600" dirty="0" err="1"/>
              <a:t>contact</a:t>
            </a:r>
            <a:r>
              <a:rPr lang="es-ES_tradnl" sz="1600" dirty="0"/>
              <a:t> (V=0.137, p &lt; 10^-18):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Contacto por </a:t>
            </a:r>
            <a:r>
              <a:rPr lang="es-ES_tradnl" sz="1400" dirty="0" err="1"/>
              <a:t>cellular</a:t>
            </a:r>
            <a:r>
              <a:rPr lang="es-ES_tradnl" sz="1400" dirty="0"/>
              <a:t> duplica el éxito frente a </a:t>
            </a:r>
            <a:r>
              <a:rPr lang="es-ES_tradnl" sz="1400" dirty="0" err="1"/>
              <a:t>telephone</a:t>
            </a:r>
            <a:r>
              <a:rPr lang="es-ES_tradnl" sz="1400" dirty="0"/>
              <a:t> (fijo).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</a:defRPr>
            </a:pPr>
            <a:r>
              <a:rPr lang="es-ES_tradnl" sz="1600" dirty="0" err="1"/>
              <a:t>job</a:t>
            </a:r>
            <a:r>
              <a:rPr lang="es-ES_tradnl" sz="1600" dirty="0"/>
              <a:t> (V=0.130, p &lt; 10^-10):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Estudiantes (</a:t>
            </a:r>
            <a:r>
              <a:rPr lang="es-ES_tradnl" sz="1400" dirty="0" err="1"/>
              <a:t>student</a:t>
            </a:r>
            <a:r>
              <a:rPr lang="es-ES_tradnl" sz="1400" dirty="0"/>
              <a:t>) y jubilados (</a:t>
            </a:r>
            <a:r>
              <a:rPr lang="es-ES_tradnl" sz="1400" dirty="0" err="1"/>
              <a:t>retired</a:t>
            </a:r>
            <a:r>
              <a:rPr lang="es-ES_tradnl" sz="1400" dirty="0"/>
              <a:t>) suscriben con mucha más propensión que obreros (blue-collar).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" name="TextBox 6"/>
          <p:cNvSpPr txBox="1"/>
          <p:nvPr/>
        </p:nvSpPr>
        <p:spPr>
          <a:xfrm>
            <a:off x="6492240" y="1921692"/>
            <a:ext cx="46634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rPr lang="es-ES_tradnl" sz="1700" dirty="0"/>
              <a:t>Variables Sin Asociación Significativa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rPr lang="es-ES_tradnl" sz="1600" dirty="0" err="1"/>
              <a:t>day_of_week</a:t>
            </a:r>
            <a:r>
              <a:rPr lang="es-ES_tradnl" sz="1600" dirty="0"/>
              <a:t> (p = 0.9723, V = 0.011):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El día de la semana (lunes a viernes) no influye en la tasa de aceptación. Se recomienda descartar.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rPr lang="es-ES_tradnl" sz="1600" dirty="0" err="1"/>
              <a:t>housing</a:t>
            </a:r>
            <a:r>
              <a:rPr lang="es-ES_tradnl" sz="1600" dirty="0"/>
              <a:t> (p = 0.7307, V = 0.012):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Tener o no crédito hipotecario no discrimina significativamente en Bank </a:t>
            </a:r>
            <a:r>
              <a:rPr lang="es-ES_tradnl" sz="1400" dirty="0" err="1"/>
              <a:t>Additional</a:t>
            </a:r>
            <a:r>
              <a:rPr lang="es-ES_tradnl" sz="1400" dirty="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rPr lang="es-ES_tradnl" sz="1600" dirty="0"/>
              <a:t>loan (p = 0.5684, V = 0.016):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Préstamo personal no presenta diferencia estadística entre clases en Bank </a:t>
            </a:r>
            <a:r>
              <a:rPr lang="es-ES_tradnl" sz="1400" dirty="0" err="1"/>
              <a:t>Additional</a:t>
            </a:r>
            <a:r>
              <a:rPr lang="es-ES_tradnl" sz="1400" dirty="0"/>
              <a:t>.</a:t>
            </a:r>
          </a:p>
          <a:p>
            <a:pPr>
              <a:spcBef>
                <a:spcPts val="1400"/>
              </a:spcBef>
              <a:defRPr sz="1300" b="1">
                <a:solidFill>
                  <a:srgbClr val="1E293B"/>
                </a:solidFill>
              </a:defRPr>
            </a:pPr>
            <a:r>
              <a:rPr lang="es-ES_tradnl" sz="1600" dirty="0"/>
              <a:t>Implicación en Selección de </a:t>
            </a:r>
            <a:r>
              <a:rPr lang="es-ES_tradnl" sz="1600" dirty="0" err="1"/>
              <a:t>Features</a:t>
            </a:r>
            <a:r>
              <a:rPr lang="es-ES_tradnl" sz="1600" dirty="0"/>
              <a:t>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La exclusión de variables con p &gt; 0.05 y V de </a:t>
            </a:r>
            <a:r>
              <a:rPr lang="es-ES_tradnl" sz="1400" dirty="0" err="1"/>
              <a:t>Cramér</a:t>
            </a:r>
            <a:r>
              <a:rPr lang="es-ES_tradnl" sz="1400" dirty="0"/>
              <a:t> cercano a cero reduce dimensionalidad y ruido sin comprometer poder predictivo.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s-ES_tradnl" dirty="0"/>
              <a:t>ANÁLISIS ESTADÍSTICO DE VARIABLES — DATASET BANK MARKETING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rPr lang="es-ES_tradnl" dirty="0"/>
              <a:t>6. Diagnóstico de Multicolinealidad (VIF e Índice de Condición)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950714"/>
            <a:ext cx="4846320" cy="397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rPr lang="es-ES_tradnl" sz="1600" dirty="0"/>
              <a:t>Colinealidad Extrema en Bank </a:t>
            </a:r>
            <a:r>
              <a:rPr lang="es-ES_tradnl" sz="1600" dirty="0" err="1"/>
              <a:t>Additional</a:t>
            </a:r>
            <a:endParaRPr lang="es-ES_tradnl" sz="1600" dirty="0"/>
          </a:p>
          <a:p>
            <a:pPr>
              <a:defRPr sz="1500" b="1">
                <a:solidFill>
                  <a:srgbClr val="E11D48"/>
                </a:solidFill>
              </a:defRPr>
            </a:pPr>
            <a:endParaRPr lang="es-ES_tradnl" sz="1600"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lang="es-ES_tradnl" sz="1400" dirty="0"/>
              <a:t>Fuerte interdependencia lineal entre indicadores macro:</a:t>
            </a:r>
            <a:br>
              <a:rPr lang="es-ES_tradnl" sz="1400" dirty="0"/>
            </a:br>
            <a:r>
              <a:rPr lang="es-ES_tradnl" sz="1400" dirty="0"/>
              <a:t>• euribor3m vs. </a:t>
            </a:r>
            <a:r>
              <a:rPr lang="es-ES_tradnl" sz="1400" dirty="0" err="1"/>
              <a:t>emp.var.rate</a:t>
            </a:r>
            <a:r>
              <a:rPr lang="es-ES_tradnl" sz="1400" dirty="0"/>
              <a:t>: r = 0.9703</a:t>
            </a:r>
            <a:br>
              <a:rPr lang="es-ES_tradnl" sz="1400" dirty="0"/>
            </a:br>
            <a:r>
              <a:rPr lang="es-ES_tradnl" sz="1400" dirty="0"/>
              <a:t>• euribor3m vs. </a:t>
            </a:r>
            <a:r>
              <a:rPr lang="es-ES_tradnl" sz="1400" dirty="0" err="1"/>
              <a:t>nr.employed</a:t>
            </a:r>
            <a:r>
              <a:rPr lang="es-ES_tradnl" sz="1400" dirty="0"/>
              <a:t>: r = 0.9426</a:t>
            </a:r>
            <a:br>
              <a:rPr lang="es-ES_tradnl" sz="1400" dirty="0"/>
            </a:br>
            <a:r>
              <a:rPr lang="es-ES_tradnl" sz="1400" dirty="0"/>
              <a:t>• </a:t>
            </a:r>
            <a:r>
              <a:rPr lang="es-ES_tradnl" sz="1400" dirty="0" err="1"/>
              <a:t>emp.var.rate</a:t>
            </a:r>
            <a:r>
              <a:rPr lang="es-ES_tradnl" sz="1400" dirty="0"/>
              <a:t> vs. </a:t>
            </a:r>
            <a:r>
              <a:rPr lang="es-ES_tradnl" sz="1400" dirty="0" err="1"/>
              <a:t>nr.employed</a:t>
            </a:r>
            <a:r>
              <a:rPr lang="es-ES_tradnl" sz="1400" dirty="0"/>
              <a:t>: r = 0.8972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endParaRPr lang="es-ES_tradnl" sz="1600" dirty="0"/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rPr lang="es-ES_tradnl" sz="1600" dirty="0"/>
              <a:t>Factores de Inflación de Varianza (VIF):</a:t>
            </a:r>
          </a:p>
          <a:p>
            <a:pPr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endParaRPr lang="es-ES_tradnl" sz="1600" dirty="0"/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600" dirty="0"/>
              <a:t>• </a:t>
            </a:r>
            <a:r>
              <a:rPr lang="es-ES_tradnl" sz="1400" dirty="0"/>
              <a:t>euribor3m: VIF = 62.91 — Crítico (VIF &gt;&gt; 10)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• </a:t>
            </a:r>
            <a:r>
              <a:rPr lang="es-ES_tradnl" sz="1400" dirty="0" err="1"/>
              <a:t>emp.var.rate</a:t>
            </a:r>
            <a:r>
              <a:rPr lang="es-ES_tradnl" sz="1400" dirty="0"/>
              <a:t>: VIF = 31.95 — Crítico (VIF &gt;&gt; 10)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• </a:t>
            </a:r>
            <a:r>
              <a:rPr lang="es-ES_tradnl" sz="1400" dirty="0" err="1"/>
              <a:t>nr.employed</a:t>
            </a:r>
            <a:r>
              <a:rPr lang="es-ES_tradnl" sz="1400" dirty="0"/>
              <a:t>: VIF = 31.14 — Crítico (VIF &gt;&gt; 10)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• </a:t>
            </a:r>
            <a:r>
              <a:rPr lang="es-ES_tradnl" sz="1400" dirty="0" err="1"/>
              <a:t>cons.price.idx</a:t>
            </a:r>
            <a:r>
              <a:rPr lang="es-ES_tradnl" sz="1400" dirty="0"/>
              <a:t>: VIF = 6.33 — Moderado/Alto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• Índice de Condición: 18.90 — Casi-singularidad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7" name="Picture 6" descr="correlac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s-ES_tradnl" dirty="0"/>
              <a:t>ANÁLISIS ESTADÍSTICO DE VARIABLES — DATASET BANK MARKETING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rPr lang="es-ES_tradnl" dirty="0"/>
              <a:t>7. </a:t>
            </a:r>
            <a:r>
              <a:rPr lang="es-ES_tradnl" dirty="0" err="1"/>
              <a:t>Outliers</a:t>
            </a:r>
            <a:r>
              <a:rPr lang="es-ES_tradnl" dirty="0"/>
              <a:t>, Desbalance de Clase y Proyección Global PCA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829881"/>
            <a:ext cx="48463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rPr lang="es-ES_tradnl" sz="1700" dirty="0"/>
              <a:t>Valores Atípicos y Desbalance Severo</a:t>
            </a:r>
          </a:p>
          <a:p>
            <a:pPr>
              <a:defRPr sz="1500" b="1">
                <a:solidFill>
                  <a:srgbClr val="1E293B"/>
                </a:solidFill>
              </a:defRPr>
            </a:pPr>
            <a:endParaRPr lang="es-ES_tradnl" sz="1700"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lang="es-ES_tradnl" sz="1400" dirty="0"/>
              <a:t>• </a:t>
            </a:r>
            <a:r>
              <a:rPr lang="es-ES_tradnl" sz="1400" dirty="0" err="1"/>
              <a:t>Outliers</a:t>
            </a:r>
            <a:r>
              <a:rPr lang="es-ES_tradnl" sz="1400" dirty="0"/>
              <a:t> </a:t>
            </a:r>
            <a:r>
              <a:rPr lang="es-ES_tradnl" sz="1400" dirty="0" err="1"/>
              <a:t>Univariados</a:t>
            </a:r>
            <a:r>
              <a:rPr lang="es-ES_tradnl" sz="1400" dirty="0"/>
              <a:t>: </a:t>
            </a:r>
            <a:r>
              <a:rPr lang="es-ES_tradnl" sz="1400" dirty="0" err="1"/>
              <a:t>duration</a:t>
            </a:r>
            <a:r>
              <a:rPr lang="es-ES_tradnl" sz="1400" dirty="0"/>
              <a:t> (7.1%), </a:t>
            </a:r>
            <a:r>
              <a:rPr lang="es-ES_tradnl" sz="1400" dirty="0" err="1"/>
              <a:t>previous</a:t>
            </a:r>
            <a:r>
              <a:rPr lang="es-ES_tradnl" sz="1400" dirty="0"/>
              <a:t> (14.5%), balance (11.2%), </a:t>
            </a:r>
            <a:r>
              <a:rPr lang="es-ES_tradnl" sz="1400" dirty="0" err="1"/>
              <a:t>campaign</a:t>
            </a:r>
            <a:r>
              <a:rPr lang="es-ES_tradnl" sz="1400" dirty="0"/>
              <a:t> (5.7%) presentan colas pesadas.</a:t>
            </a:r>
            <a:br>
              <a:rPr lang="es-ES_tradnl" sz="1400" dirty="0"/>
            </a:br>
            <a:r>
              <a:rPr lang="es-ES_tradnl" sz="1400" dirty="0"/>
              <a:t>• </a:t>
            </a:r>
            <a:r>
              <a:rPr lang="es-ES_tradnl" sz="1400" dirty="0" err="1"/>
              <a:t>Mahalanobis</a:t>
            </a:r>
            <a:r>
              <a:rPr lang="es-ES_tradnl" sz="1400" dirty="0"/>
              <a:t> Multivariado: 290 </a:t>
            </a:r>
            <a:r>
              <a:rPr lang="es-ES_tradnl" sz="1400" dirty="0" err="1"/>
              <a:t>outliers</a:t>
            </a:r>
            <a:r>
              <a:rPr lang="es-ES_tradnl" sz="1400" dirty="0"/>
              <a:t> conjuntos (7.0%) en Bank </a:t>
            </a:r>
            <a:r>
              <a:rPr lang="es-ES_tradnl" sz="1400" dirty="0" err="1"/>
              <a:t>Additional</a:t>
            </a:r>
            <a:r>
              <a:rPr lang="es-ES_tradnl" sz="1400" dirty="0"/>
              <a:t> (chi²=29.6).</a:t>
            </a:r>
            <a:br>
              <a:rPr lang="es-ES_tradnl" sz="1400" dirty="0"/>
            </a:br>
            <a:r>
              <a:rPr lang="es-ES_tradnl" sz="1400" dirty="0"/>
              <a:t>• Balance de Clases: Test binomial p = 0.0000. Clases observadas: 89.1% 'no' vs 10.9% 'yes'.</a:t>
            </a:r>
          </a:p>
          <a:p>
            <a:pPr>
              <a:spcBef>
                <a:spcPts val="1000"/>
              </a:spcBef>
              <a:defRPr sz="1300" b="1">
                <a:solidFill>
                  <a:srgbClr val="E11D48"/>
                </a:solidFill>
              </a:defRPr>
            </a:pPr>
            <a:endParaRPr lang="es-ES_tradnl" sz="1500" dirty="0"/>
          </a:p>
          <a:p>
            <a:pPr>
              <a:spcBef>
                <a:spcPts val="1000"/>
              </a:spcBef>
              <a:defRPr sz="1300" b="1">
                <a:solidFill>
                  <a:srgbClr val="E11D48"/>
                </a:solidFill>
              </a:defRPr>
            </a:pPr>
            <a:r>
              <a:rPr lang="es-ES_tradnl" sz="1700" dirty="0"/>
              <a:t>Implicación en Evaluación:</a:t>
            </a:r>
          </a:p>
          <a:p>
            <a:pPr>
              <a:spcBef>
                <a:spcPts val="1000"/>
              </a:spcBef>
              <a:defRPr sz="1300" b="1">
                <a:solidFill>
                  <a:srgbClr val="E11D48"/>
                </a:solidFill>
              </a:defRPr>
            </a:pPr>
            <a:endParaRPr lang="es-ES_tradnl" sz="1700" dirty="0"/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rPr lang="es-ES_tradnl" sz="1400" dirty="0"/>
              <a:t>El </a:t>
            </a:r>
            <a:r>
              <a:rPr lang="es-ES_tradnl" sz="1400" dirty="0" err="1"/>
              <a:t>Accuracy</a:t>
            </a:r>
            <a:r>
              <a:rPr lang="es-ES_tradnl" sz="1400" dirty="0"/>
              <a:t> no es representativo (clasificador nulo obtiene ~89%). Se exige evaluar F1-Score Macro, PR-AUC, y emplear </a:t>
            </a:r>
            <a:r>
              <a:rPr lang="es-ES_tradnl" sz="1400" dirty="0" err="1"/>
              <a:t>Stratified</a:t>
            </a:r>
            <a:r>
              <a:rPr lang="es-ES_tradnl" sz="1400" dirty="0"/>
              <a:t> K-Fold con técnicas de </a:t>
            </a:r>
            <a:r>
              <a:rPr lang="es-ES_tradnl" sz="1400" dirty="0" err="1"/>
              <a:t>remuestreo</a:t>
            </a:r>
            <a:r>
              <a:rPr lang="es-ES_tradnl" sz="1400" dirty="0"/>
              <a:t> (SMOTE / </a:t>
            </a:r>
            <a:r>
              <a:rPr lang="es-ES_tradnl" sz="1400" dirty="0" err="1"/>
              <a:t>class_weight</a:t>
            </a:r>
            <a:r>
              <a:rPr lang="es-ES_tradnl" sz="1400" dirty="0"/>
              <a:t>='</a:t>
            </a:r>
            <a:r>
              <a:rPr lang="es-ES_tradnl" sz="1400" dirty="0" err="1"/>
              <a:t>balanced</a:t>
            </a:r>
            <a:r>
              <a:rPr lang="es-ES_tradnl" sz="1400" dirty="0"/>
              <a:t>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7" name="Picture 6" descr="pca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493776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s-ES_tradnl" dirty="0"/>
              <a:t>ANÁLISIS ESTADÍSTICO DE VARIABLES — DATASET BANK MARKETING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rPr lang="es-ES_tradnl" dirty="0"/>
              <a:t>8. Decisiones de Limpieza y Preprocesamiento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6324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lang="es-ES_tradnl" sz="1600" dirty="0"/>
              <a:t>1. Tratamiento de Fuga de Información (</a:t>
            </a:r>
            <a:r>
              <a:rPr lang="es-ES_tradnl" sz="1600" dirty="0" err="1"/>
              <a:t>duration</a:t>
            </a:r>
            <a:r>
              <a:rPr lang="es-ES_tradnl" sz="1600" dirty="0"/>
              <a:t>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Excluir </a:t>
            </a:r>
            <a:r>
              <a:rPr lang="es-ES_tradnl" sz="1400" dirty="0" err="1"/>
              <a:t>duration</a:t>
            </a:r>
            <a:r>
              <a:rPr lang="es-ES_tradnl" sz="1400" dirty="0"/>
              <a:t> en modelos orientados a prospección antes de la llamada (el dato no existe antes de marcar). Conservar sólo como cota superior/</a:t>
            </a:r>
            <a:r>
              <a:rPr lang="es-ES_tradnl" sz="1400" dirty="0" err="1"/>
              <a:t>benchmark</a:t>
            </a:r>
            <a:r>
              <a:rPr lang="es-ES_tradnl" sz="14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6324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lang="es-ES_tradnl" sz="1600" dirty="0"/>
              <a:t>2. Resolución de Multicolinealidad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b="1" dirty="0"/>
              <a:t>Opción A:</a:t>
            </a:r>
            <a:r>
              <a:rPr lang="es-ES_tradnl" sz="1400" dirty="0"/>
              <a:t> Retener sólo euribor3m y descartar </a:t>
            </a:r>
            <a:r>
              <a:rPr lang="es-ES_tradnl" sz="1400" dirty="0" err="1"/>
              <a:t>emp.var.rate</a:t>
            </a:r>
            <a:r>
              <a:rPr lang="es-ES_tradnl" sz="1400" dirty="0"/>
              <a:t> y </a:t>
            </a:r>
            <a:r>
              <a:rPr lang="es-ES_tradnl" sz="1400" dirty="0" err="1"/>
              <a:t>nr.employed</a:t>
            </a:r>
            <a:r>
              <a:rPr lang="es-ES_tradnl" sz="1400" dirty="0"/>
              <a:t>. </a:t>
            </a:r>
            <a:r>
              <a:rPr lang="es-ES_tradnl" sz="1400" b="1" dirty="0"/>
              <a:t>Opción B:</a:t>
            </a:r>
            <a:r>
              <a:rPr lang="es-ES_tradnl" sz="1400" dirty="0"/>
              <a:t> Aplicar PCA sobre los 5 indicadores económicos y usar las primeras 2 componentes.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6324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lang="es-ES_tradnl" sz="1600" dirty="0"/>
              <a:t>3. Transformación de Escala y Asimetría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Usar </a:t>
            </a:r>
            <a:r>
              <a:rPr lang="es-ES_tradnl" sz="1400" dirty="0" err="1"/>
              <a:t>RobustScaler</a:t>
            </a:r>
            <a:r>
              <a:rPr lang="es-ES_tradnl" sz="1400" dirty="0"/>
              <a:t> (mediana e IQR) o </a:t>
            </a:r>
            <a:r>
              <a:rPr lang="es-ES_tradnl" sz="1400" dirty="0" err="1"/>
              <a:t>PowerTransformer</a:t>
            </a:r>
            <a:r>
              <a:rPr lang="es-ES_tradnl" sz="1400" dirty="0"/>
              <a:t> (Yeo-Johnson / log) en balance, </a:t>
            </a:r>
            <a:r>
              <a:rPr lang="es-ES_tradnl" sz="1400" dirty="0" err="1"/>
              <a:t>duration</a:t>
            </a:r>
            <a:r>
              <a:rPr lang="es-ES_tradnl" sz="1400" dirty="0"/>
              <a:t>, </a:t>
            </a:r>
            <a:r>
              <a:rPr lang="es-ES_tradnl" sz="1400" dirty="0" err="1"/>
              <a:t>campaign</a:t>
            </a:r>
            <a:r>
              <a:rPr lang="es-ES_tradnl" sz="1400" dirty="0"/>
              <a:t> para mitigar el impacto de las colas pesadas.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6324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lang="es-ES_tradnl" sz="1600" dirty="0"/>
              <a:t>4. Variables Bi-modales e Infladas (</a:t>
            </a:r>
            <a:r>
              <a:rPr lang="es-ES_tradnl" sz="1600" dirty="0" err="1"/>
              <a:t>pdays</a:t>
            </a:r>
            <a:r>
              <a:rPr lang="es-ES_tradnl" sz="1600" dirty="0"/>
              <a:t>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Generar una variable indicadora booleana '</a:t>
            </a:r>
            <a:r>
              <a:rPr lang="es-ES_tradnl" sz="1400" dirty="0" err="1"/>
              <a:t>pcontacted</a:t>
            </a:r>
            <a:r>
              <a:rPr lang="es-ES_tradnl" sz="1400" dirty="0"/>
              <a:t> = (</a:t>
            </a:r>
            <a:r>
              <a:rPr lang="es-ES_tradnl" sz="1400" dirty="0" err="1"/>
              <a:t>pdays</a:t>
            </a:r>
            <a:r>
              <a:rPr lang="es-ES_tradnl" sz="1400" dirty="0"/>
              <a:t> != 999)' y transformar el número de días para clientes contactados previamente.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306324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lang="es-ES_tradnl" sz="1600" dirty="0"/>
              <a:t>5. Codificación de Categóricas y Nulos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Tratar la etiqueta '</a:t>
            </a:r>
            <a:r>
              <a:rPr lang="es-ES_tradnl" sz="1400" dirty="0" err="1"/>
              <a:t>unknown</a:t>
            </a:r>
            <a:r>
              <a:rPr lang="es-ES_tradnl" sz="1400" dirty="0"/>
              <a:t>' como categoría explícita (conserva el sesgo de no respuesta). One-Hot </a:t>
            </a:r>
            <a:r>
              <a:rPr lang="es-ES_tradnl" sz="1400" dirty="0" err="1"/>
              <a:t>Encoding</a:t>
            </a:r>
            <a:r>
              <a:rPr lang="es-ES_tradnl" sz="1400" dirty="0"/>
              <a:t> en nominales y Ordinal </a:t>
            </a:r>
            <a:r>
              <a:rPr lang="es-ES_tradnl" sz="1400" dirty="0" err="1"/>
              <a:t>Encoding</a:t>
            </a:r>
            <a:r>
              <a:rPr lang="es-ES_tradnl" sz="1400" dirty="0"/>
              <a:t> en </a:t>
            </a:r>
            <a:r>
              <a:rPr lang="es-ES_tradnl" sz="1400" dirty="0" err="1"/>
              <a:t>education</a:t>
            </a:r>
            <a:r>
              <a:rPr lang="es-ES_tradnl" sz="14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306324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lang="es-ES_tradnl" sz="1600" dirty="0"/>
              <a:t>6. Manejo del Desbalance de Clases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lang="es-ES_tradnl" sz="1400" dirty="0"/>
              <a:t>Estratificación estricta (</a:t>
            </a:r>
            <a:r>
              <a:rPr lang="es-ES_tradnl" sz="1400" dirty="0" err="1"/>
              <a:t>Stratified</a:t>
            </a:r>
            <a:r>
              <a:rPr lang="es-ES_tradnl" sz="1400" dirty="0"/>
              <a:t> K-Fold). Ponderación </a:t>
            </a:r>
            <a:r>
              <a:rPr lang="es-ES_tradnl" sz="1400" dirty="0" err="1"/>
              <a:t>class_weight</a:t>
            </a:r>
            <a:r>
              <a:rPr lang="es-ES_tradnl" sz="1400" dirty="0"/>
              <a:t>='</a:t>
            </a:r>
            <a:r>
              <a:rPr lang="es-ES_tradnl" sz="1400" dirty="0" err="1"/>
              <a:t>balanced</a:t>
            </a:r>
            <a:r>
              <a:rPr lang="es-ES_tradnl" sz="1400" dirty="0"/>
              <a:t>' o </a:t>
            </a:r>
            <a:r>
              <a:rPr lang="es-ES_tradnl" sz="1400" dirty="0" err="1"/>
              <a:t>remuestreo</a:t>
            </a:r>
            <a:r>
              <a:rPr lang="es-ES_tradnl" sz="1400" dirty="0"/>
              <a:t> sintético (SMOTE / ADASYN). Optimizar umbral de corte.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s-ES_tradnl" dirty="0"/>
              <a:t>ANÁLISIS ESTADÍSTICO DE VARIABLES — DATASET BANK MARKETING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</a:defRPr>
            </a:pPr>
            <a:r>
              <a:rPr lang="es-ES_tradnl" dirty="0"/>
              <a:t>9. Conclusiones y Próximos Pasos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TextBox 4"/>
          <p:cNvSpPr txBox="1"/>
          <p:nvPr/>
        </p:nvSpPr>
        <p:spPr>
          <a:xfrm>
            <a:off x="1005840" y="1949233"/>
            <a:ext cx="1018001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rPr lang="es-ES_tradnl" sz="1600" dirty="0"/>
              <a:t>Rigor Metodológico Comprobado: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rPr lang="es-ES_tradnl" sz="1400" dirty="0"/>
              <a:t>El incumplimiento de normalidad y homocedasticidad justificó formalmente la selección de pruebas no paramétricas (Mann-Whitney U y Chi-cuadrado), evitando conclusiones erróneas de </a:t>
            </a:r>
            <a:r>
              <a:rPr lang="es-ES_tradnl" sz="1400" dirty="0" err="1"/>
              <a:t>tests</a:t>
            </a:r>
            <a:r>
              <a:rPr lang="es-ES_tradnl" sz="1400" dirty="0"/>
              <a:t> paramétricos.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rPr lang="es-ES_tradnl" sz="1600" dirty="0"/>
              <a:t>Poder de los Indicadores Macroeconómicos: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rPr lang="es-ES_tradnl" sz="1600" dirty="0"/>
              <a:t>Las variables económicas (euribor3m, </a:t>
            </a:r>
            <a:r>
              <a:rPr lang="es-ES_tradnl" sz="1600" dirty="0" err="1"/>
              <a:t>cons.conf.idx</a:t>
            </a:r>
            <a:r>
              <a:rPr lang="es-ES_tradnl" sz="1600" dirty="0"/>
              <a:t>, </a:t>
            </a:r>
            <a:r>
              <a:rPr lang="es-ES_tradnl" sz="1600" dirty="0" err="1"/>
              <a:t>cons.price.idx</a:t>
            </a:r>
            <a:r>
              <a:rPr lang="es-ES_tradnl" sz="1600" dirty="0"/>
              <a:t>) demostraron ser los factores externos más determinantes para la suscripción bancaria, superando en información mutua a casi todas las características demográficas.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rPr lang="es-ES_tradnl" sz="1600" dirty="0"/>
              <a:t>Detección Oportuna de Riesgos: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rPr lang="es-ES_tradnl" sz="1600" dirty="0"/>
              <a:t>Se diagnosticó y documentó la multicolinealidad severa (VIF &gt; 60) en el bloque macroeconómico y el riesgo de fuga de datos en '</a:t>
            </a:r>
            <a:r>
              <a:rPr lang="es-ES_tradnl" sz="1600" dirty="0" err="1"/>
              <a:t>duration</a:t>
            </a:r>
            <a:r>
              <a:rPr lang="es-ES_tradnl" sz="1600" dirty="0"/>
              <a:t>', definiendo pautas claras de ingeniería de características.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rPr lang="es-ES_tradnl" sz="1600" dirty="0"/>
              <a:t>Base Sólida para Modelado: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rPr lang="es-ES_tradnl" sz="1600" dirty="0"/>
              <a:t>Con los pipelines de limpieza, escalado robusto, codificación de variables y balance estratificado, el </a:t>
            </a:r>
            <a:r>
              <a:rPr lang="es-ES_tradnl" sz="1600" dirty="0" err="1"/>
              <a:t>dataset</a:t>
            </a:r>
            <a:r>
              <a:rPr lang="es-ES_tradnl" sz="1600" dirty="0"/>
              <a:t> queda formalmente preparado para algoritmos de Inteligencia Computacional (MLP, SVM, Random Forest, </a:t>
            </a:r>
            <a:r>
              <a:rPr lang="es-ES_tradnl" sz="1600" dirty="0" err="1"/>
              <a:t>XGBoost</a:t>
            </a:r>
            <a:r>
              <a:rPr lang="es-ES_tradnl" sz="1600" dirty="0"/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1653</Words>
  <Application>Microsoft Macintosh PowerPoint</Application>
  <PresentationFormat>Panorámica</PresentationFormat>
  <Paragraphs>157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FELIPE RODRIGUEZ GALINDO</cp:lastModifiedBy>
  <cp:revision>5</cp:revision>
  <dcterms:created xsi:type="dcterms:W3CDTF">2013-01-27T09:14:16Z</dcterms:created>
  <dcterms:modified xsi:type="dcterms:W3CDTF">2026-09-05T00:07:35Z</dcterms:modified>
  <cp:category/>
</cp:coreProperties>
</file>