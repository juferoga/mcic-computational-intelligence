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  <p:sldId id="265" r:id="rId40"/>
    <p:sldId id="266" r:id="rId41"/>
  </p:sldIdLst>
  <p:sldSz cy="5143500" cx="9144000"/>
  <p:notesSz cx="6858000" cy="9144000"/>
  <p:embeddedFontLst>
    <p:embeddedFont>
      <p:font typeface="Proxima Nova"/>
      <p:regular r:id="rId94"/>
      <p:bold r:id="rId95"/>
      <p:italic r:id="rId96"/>
      <p:boldItalic r:id="rId97"/>
    </p:embeddedFont>
    <p:embeddedFont>
      <p:font typeface="Roboto Medium"/>
      <p:regular r:id="rId98"/>
      <p:bold r:id="rId99"/>
      <p:italic r:id="rId100"/>
      <p:boldItalic r:id="rId101"/>
    </p:embeddedFont>
    <p:embeddedFont>
      <p:font typeface="Amatic SC"/>
      <p:regular r:id="rId102"/>
      <p:bold r:id="rId103"/>
    </p:embeddedFont>
    <p:embeddedFont>
      <p:font typeface="Overpass"/>
      <p:regular r:id="rId104"/>
      <p:bold r:id="rId105"/>
      <p:italic r:id="rId106"/>
      <p:boldItalic r:id="rId107"/>
    </p:embeddedFont>
    <p:embeddedFont>
      <p:font typeface="Proxima Nova Semibold"/>
      <p:regular r:id="rId108"/>
      <p:bold r:id="rId109"/>
      <p:boldItalic r:id="rId110"/>
    </p:embeddedFont>
    <p:embeddedFont>
      <p:font typeface="DM Serif Display"/>
      <p:regular r:id="rId111"/>
      <p:italic r:id="rId112"/>
    </p:embeddedFont>
    <p:embeddedFont>
      <p:font typeface="Karla"/>
      <p:regular r:id="rId113"/>
      <p:bold r:id="rId114"/>
      <p:italic r:id="rId115"/>
      <p:boldItalic r:id="rId1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FBEA96-C8E7-43C8-8308-72618AA3E878}">
  <a:tblStyle styleId="{89FBEA96-C8E7-43C8-8308-72618AA3E8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94" Type="http://schemas.openxmlformats.org/officeDocument/2006/relationships/font" Target="fonts/ProximaNova-regular.fntdata"/><Relationship Id="rId95" Type="http://schemas.openxmlformats.org/officeDocument/2006/relationships/font" Target="fonts/ProximaNova-bold.fntdata"/><Relationship Id="rId96" Type="http://schemas.openxmlformats.org/officeDocument/2006/relationships/font" Target="fonts/ProximaNova-italic.fntdata"/><Relationship Id="rId97" Type="http://schemas.openxmlformats.org/officeDocument/2006/relationships/font" Target="fonts/ProximaNova-boldItalic.fntdata"/><Relationship Id="rId98" Type="http://schemas.openxmlformats.org/officeDocument/2006/relationships/font" Target="fonts/RobotoMedium-regular.fntdata"/><Relationship Id="rId99" Type="http://schemas.openxmlformats.org/officeDocument/2006/relationships/font" Target="fonts/RobotoMedium-bold.fntdata"/><Relationship Id="rId100" Type="http://schemas.openxmlformats.org/officeDocument/2006/relationships/font" Target="fonts/RobotoMedium-italic.fntdata"/><Relationship Id="rId101" Type="http://schemas.openxmlformats.org/officeDocument/2006/relationships/font" Target="fonts/RobotoMedium-boldItalic.fntdata"/><Relationship Id="rId102" Type="http://schemas.openxmlformats.org/officeDocument/2006/relationships/font" Target="fonts/AmaticSC-regular.fntdata"/><Relationship Id="rId103" Type="http://schemas.openxmlformats.org/officeDocument/2006/relationships/font" Target="fonts/AmaticSC-bold.fntdata"/><Relationship Id="rId104" Type="http://schemas.openxmlformats.org/officeDocument/2006/relationships/font" Target="fonts/Overpass-regular.fntdata"/><Relationship Id="rId105" Type="http://schemas.openxmlformats.org/officeDocument/2006/relationships/font" Target="fonts/Overpass-bold.fntdata"/><Relationship Id="rId106" Type="http://schemas.openxmlformats.org/officeDocument/2006/relationships/font" Target="fonts/Overpass-italic.fntdata"/><Relationship Id="rId107" Type="http://schemas.openxmlformats.org/officeDocument/2006/relationships/font" Target="fonts/Overpass-boldItalic.fntdata"/><Relationship Id="rId108" Type="http://schemas.openxmlformats.org/officeDocument/2006/relationships/font" Target="fonts/ProximaNovaSemibold-regular.fntdata"/><Relationship Id="rId109" Type="http://schemas.openxmlformats.org/officeDocument/2006/relationships/font" Target="fonts/ProximaNovaSemibold-bold.fntdata"/><Relationship Id="rId110" Type="http://schemas.openxmlformats.org/officeDocument/2006/relationships/font" Target="fonts/ProximaNovaSemibold-boldItalic.fntdata"/><Relationship Id="rId111" Type="http://schemas.openxmlformats.org/officeDocument/2006/relationships/font" Target="fonts/DMSerifDisplay-regular.fntdata"/><Relationship Id="rId112" Type="http://schemas.openxmlformats.org/officeDocument/2006/relationships/font" Target="fonts/DMSerifDisplay-italic.fntdata"/><Relationship Id="rId113" Type="http://schemas.openxmlformats.org/officeDocument/2006/relationships/font" Target="fonts/Karla-regular.fntdata"/><Relationship Id="rId114" Type="http://schemas.openxmlformats.org/officeDocument/2006/relationships/font" Target="fonts/Karla-bold.fntdata"/><Relationship Id="rId115" Type="http://schemas.openxmlformats.org/officeDocument/2006/relationships/font" Target="fonts/Karla-italic.fntdata"/><Relationship Id="rId116" Type="http://schemas.openxmlformats.org/officeDocument/2006/relationships/font" Target="fonts/Karla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0900" y="2715863"/>
            <a:ext cx="40005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550" y="184925"/>
            <a:ext cx="3262450" cy="2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13" y="-438012"/>
            <a:ext cx="240982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6910775" y="206125"/>
            <a:ext cx="4339950" cy="31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941800" y="2746450"/>
            <a:ext cx="1733750" cy="394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953325" y="1452750"/>
            <a:ext cx="7237500" cy="18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40125" y="3266850"/>
            <a:ext cx="6063900" cy="4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293225" y="3165870"/>
            <a:ext cx="25578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883291">
            <a:off x="-398603" y="166139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313" y="163692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639246">
            <a:off x="941800" y="2746450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1725" y="3219301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4126" y="609717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639246">
            <a:off x="6379675" y="-1850875"/>
            <a:ext cx="1733751" cy="39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018400" y="-1769425"/>
            <a:ext cx="1733750" cy="394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2143088" y="1694737"/>
            <a:ext cx="3538475" cy="20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725" y="2721400"/>
            <a:ext cx="1666150" cy="16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83350" y="3405826"/>
            <a:ext cx="35565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804123" y="3405826"/>
            <a:ext cx="35565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3" type="title"/>
          </p:nvPr>
        </p:nvSpPr>
        <p:spPr>
          <a:xfrm>
            <a:off x="783498" y="2994425"/>
            <a:ext cx="3556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4" type="title"/>
          </p:nvPr>
        </p:nvSpPr>
        <p:spPr>
          <a:xfrm>
            <a:off x="4804112" y="2994425"/>
            <a:ext cx="3556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3883875" y="3124800"/>
            <a:ext cx="2192100" cy="49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650512">
            <a:off x="-592450" y="1481750"/>
            <a:ext cx="1730375" cy="159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498519">
            <a:off x="-1548411" y="388075"/>
            <a:ext cx="3031283" cy="217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7725325" y="598500"/>
            <a:ext cx="2131150" cy="16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597377">
            <a:off x="-1389774" y="77279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31525" y="-1746625"/>
            <a:ext cx="1446050" cy="32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0900" y="-333175"/>
            <a:ext cx="1730375" cy="15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222625" y="1553350"/>
            <a:ext cx="40464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222625" y="2214132"/>
            <a:ext cx="4046400" cy="14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883291">
            <a:off x="6999497" y="-193181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4500" y="3985688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938" y="-168258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576" y="-881358"/>
            <a:ext cx="2386824" cy="43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2510100" y="1428750"/>
            <a:ext cx="41238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4841551" y="-182928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65181">
            <a:off x="3700" y="-621650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639250">
            <a:off x="563096" y="1270047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940574">
            <a:off x="7146222" y="3226169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6687250" y="3507625"/>
            <a:ext cx="1393300" cy="13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683650" y="1533327"/>
            <a:ext cx="3776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83500" y="2353900"/>
            <a:ext cx="37770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905281">
            <a:off x="1835275" y="-2291450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">
            <a:off x="618850" y="-1483600"/>
            <a:ext cx="3810950" cy="27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282886">
            <a:off x="790253" y="2486470"/>
            <a:ext cx="1774245" cy="403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253475" y="35565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4511836">
            <a:off x="7354915" y="2408773"/>
            <a:ext cx="1697478" cy="1643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713225" y="2423575"/>
            <a:ext cx="2574900" cy="20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1763725" y="1623625"/>
            <a:ext cx="5616600" cy="14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1763725" y="3115134"/>
            <a:ext cx="5616600" cy="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74" name="Google Shape;7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921375" y="-318275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9275" y="29641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30805">
            <a:off x="7413023" y="1140648"/>
            <a:ext cx="1572004" cy="381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19700" y="3236551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3243911" y="-457212"/>
            <a:ext cx="2372929" cy="1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8">
            <a:off x="6656995" y="2324373"/>
            <a:ext cx="2002458" cy="455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2" type="title"/>
          </p:nvPr>
        </p:nvSpPr>
        <p:spPr>
          <a:xfrm>
            <a:off x="1002325" y="1180055"/>
            <a:ext cx="19365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3" type="title"/>
          </p:nvPr>
        </p:nvSpPr>
        <p:spPr>
          <a:xfrm>
            <a:off x="713225" y="1825998"/>
            <a:ext cx="25149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713225" y="2182181"/>
            <a:ext cx="25149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hasCustomPrompt="1" idx="4" type="title"/>
          </p:nvPr>
        </p:nvSpPr>
        <p:spPr>
          <a:xfrm>
            <a:off x="3603686" y="1180055"/>
            <a:ext cx="19365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idx="5" type="title"/>
          </p:nvPr>
        </p:nvSpPr>
        <p:spPr>
          <a:xfrm>
            <a:off x="3314587" y="1825998"/>
            <a:ext cx="25149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13"/>
          <p:cNvSpPr txBox="1"/>
          <p:nvPr>
            <p:ph idx="6" type="subTitle"/>
          </p:nvPr>
        </p:nvSpPr>
        <p:spPr>
          <a:xfrm>
            <a:off x="3314590" y="2182181"/>
            <a:ext cx="25149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hasCustomPrompt="1" idx="7" type="title"/>
          </p:nvPr>
        </p:nvSpPr>
        <p:spPr>
          <a:xfrm>
            <a:off x="6205050" y="1180055"/>
            <a:ext cx="19365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idx="8" type="title"/>
          </p:nvPr>
        </p:nvSpPr>
        <p:spPr>
          <a:xfrm>
            <a:off x="5915950" y="1825999"/>
            <a:ext cx="25149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3"/>
          <p:cNvSpPr txBox="1"/>
          <p:nvPr>
            <p:ph idx="9" type="subTitle"/>
          </p:nvPr>
        </p:nvSpPr>
        <p:spPr>
          <a:xfrm>
            <a:off x="5915954" y="2182182"/>
            <a:ext cx="25149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hasCustomPrompt="1" idx="13" type="title"/>
          </p:nvPr>
        </p:nvSpPr>
        <p:spPr>
          <a:xfrm>
            <a:off x="2303000" y="2961254"/>
            <a:ext cx="19365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idx="14" type="title"/>
          </p:nvPr>
        </p:nvSpPr>
        <p:spPr>
          <a:xfrm>
            <a:off x="2013874" y="3611809"/>
            <a:ext cx="251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3"/>
          <p:cNvSpPr txBox="1"/>
          <p:nvPr>
            <p:ph idx="15" type="subTitle"/>
          </p:nvPr>
        </p:nvSpPr>
        <p:spPr>
          <a:xfrm>
            <a:off x="2013863" y="3967993"/>
            <a:ext cx="25149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hasCustomPrompt="1" idx="16" type="title"/>
          </p:nvPr>
        </p:nvSpPr>
        <p:spPr>
          <a:xfrm>
            <a:off x="4904284" y="2961254"/>
            <a:ext cx="19368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idx="17" type="title"/>
          </p:nvPr>
        </p:nvSpPr>
        <p:spPr>
          <a:xfrm>
            <a:off x="4615140" y="3611809"/>
            <a:ext cx="251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3"/>
          <p:cNvSpPr txBox="1"/>
          <p:nvPr>
            <p:ph idx="18" type="subTitle"/>
          </p:nvPr>
        </p:nvSpPr>
        <p:spPr>
          <a:xfrm>
            <a:off x="4615137" y="3967993"/>
            <a:ext cx="25149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395882">
            <a:off x="-158200" y="-709517"/>
            <a:ext cx="1572000" cy="381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06925" y="3556777"/>
            <a:ext cx="1187150" cy="1538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399011">
            <a:off x="8224735" y="801160"/>
            <a:ext cx="1889979" cy="4303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7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548200" y="367320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30805">
            <a:off x="7413023" y="1140648"/>
            <a:ext cx="1572004" cy="381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-477775" y="3945601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-681239" y="-949837"/>
            <a:ext cx="2372929" cy="1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hasCustomPrompt="1" idx="2" type="title"/>
          </p:nvPr>
        </p:nvSpPr>
        <p:spPr>
          <a:xfrm>
            <a:off x="1955890" y="1156200"/>
            <a:ext cx="24471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/>
          <p:nvPr>
            <p:ph idx="3" type="title"/>
          </p:nvPr>
        </p:nvSpPr>
        <p:spPr>
          <a:xfrm>
            <a:off x="1955890" y="1811680"/>
            <a:ext cx="24471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14"/>
          <p:cNvSpPr txBox="1"/>
          <p:nvPr>
            <p:ph idx="1" type="subTitle"/>
          </p:nvPr>
        </p:nvSpPr>
        <p:spPr>
          <a:xfrm>
            <a:off x="1955890" y="2182175"/>
            <a:ext cx="24471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hasCustomPrompt="1" idx="4" type="title"/>
          </p:nvPr>
        </p:nvSpPr>
        <p:spPr>
          <a:xfrm>
            <a:off x="4741010" y="1156200"/>
            <a:ext cx="24471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1" name="Google Shape;111;p14"/>
          <p:cNvSpPr txBox="1"/>
          <p:nvPr>
            <p:ph idx="5" type="title"/>
          </p:nvPr>
        </p:nvSpPr>
        <p:spPr>
          <a:xfrm>
            <a:off x="4741010" y="1811680"/>
            <a:ext cx="24471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4"/>
          <p:cNvSpPr txBox="1"/>
          <p:nvPr>
            <p:ph idx="6" type="subTitle"/>
          </p:nvPr>
        </p:nvSpPr>
        <p:spPr>
          <a:xfrm>
            <a:off x="4741010" y="2182175"/>
            <a:ext cx="24471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hasCustomPrompt="1" idx="7" type="title"/>
          </p:nvPr>
        </p:nvSpPr>
        <p:spPr>
          <a:xfrm>
            <a:off x="1955890" y="2932750"/>
            <a:ext cx="24471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/>
          <p:nvPr>
            <p:ph idx="8" type="title"/>
          </p:nvPr>
        </p:nvSpPr>
        <p:spPr>
          <a:xfrm>
            <a:off x="1955890" y="3588231"/>
            <a:ext cx="24471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14"/>
          <p:cNvSpPr txBox="1"/>
          <p:nvPr>
            <p:ph idx="9" type="subTitle"/>
          </p:nvPr>
        </p:nvSpPr>
        <p:spPr>
          <a:xfrm>
            <a:off x="1955890" y="3958725"/>
            <a:ext cx="24471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hasCustomPrompt="1" idx="13" type="title"/>
          </p:nvPr>
        </p:nvSpPr>
        <p:spPr>
          <a:xfrm>
            <a:off x="4741010" y="2932750"/>
            <a:ext cx="2447100" cy="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7" name="Google Shape;117;p14"/>
          <p:cNvSpPr txBox="1"/>
          <p:nvPr>
            <p:ph idx="14" type="title"/>
          </p:nvPr>
        </p:nvSpPr>
        <p:spPr>
          <a:xfrm>
            <a:off x="4741010" y="3588230"/>
            <a:ext cx="24471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" name="Google Shape;118;p14"/>
          <p:cNvSpPr txBox="1"/>
          <p:nvPr>
            <p:ph idx="15" type="subTitle"/>
          </p:nvPr>
        </p:nvSpPr>
        <p:spPr>
          <a:xfrm>
            <a:off x="4741010" y="3958725"/>
            <a:ext cx="24471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8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665181">
            <a:off x="3700" y="-621650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639250">
            <a:off x="563096" y="1270047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727850" y="-4606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026875" y="-188249"/>
            <a:ext cx="1572000" cy="20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title"/>
          </p:nvPr>
        </p:nvSpPr>
        <p:spPr>
          <a:xfrm>
            <a:off x="4654575" y="1442965"/>
            <a:ext cx="3776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" name="Google Shape;125;p15"/>
          <p:cNvSpPr txBox="1"/>
          <p:nvPr>
            <p:ph idx="1" type="subTitle"/>
          </p:nvPr>
        </p:nvSpPr>
        <p:spPr>
          <a:xfrm>
            <a:off x="4654425" y="2278254"/>
            <a:ext cx="37770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7511709">
            <a:off x="1241850" y="4271705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511836">
            <a:off x="2521265" y="2057048"/>
            <a:ext cx="1697478" cy="164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639250">
            <a:off x="1811646" y="-855003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694950" y="3552826"/>
            <a:ext cx="1572000" cy="20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9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2166450" y="1904970"/>
            <a:ext cx="481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2166450" y="2661050"/>
            <a:ext cx="4241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3" name="Google Shape;133;p16"/>
          <p:cNvSpPr txBox="1"/>
          <p:nvPr>
            <p:ph hasCustomPrompt="1" idx="2" type="title"/>
          </p:nvPr>
        </p:nvSpPr>
        <p:spPr>
          <a:xfrm>
            <a:off x="713225" y="1618875"/>
            <a:ext cx="1427700" cy="13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883291">
            <a:off x="6338622" y="327934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6288" y="1161667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639246">
            <a:off x="7914100" y="3060775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276800" y="638313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597377">
            <a:off x="4625676" y="-2541707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5904" y="978148"/>
            <a:ext cx="2416825" cy="2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3668799">
            <a:off x="930329" y="-1893945"/>
            <a:ext cx="2136318" cy="518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156636">
            <a:off x="2909701" y="-1582496"/>
            <a:ext cx="2002458" cy="4559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643364">
            <a:off x="2952851" y="2578502"/>
            <a:ext cx="2002458" cy="4559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7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4227250" y="2501200"/>
            <a:ext cx="420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" name="Google Shape;145;p17"/>
          <p:cNvSpPr txBox="1"/>
          <p:nvPr>
            <p:ph idx="1" type="subTitle"/>
          </p:nvPr>
        </p:nvSpPr>
        <p:spPr>
          <a:xfrm>
            <a:off x="4227250" y="3257276"/>
            <a:ext cx="4203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6" name="Google Shape;146;p17"/>
          <p:cNvSpPr txBox="1"/>
          <p:nvPr>
            <p:ph hasCustomPrompt="1" idx="2" type="title"/>
          </p:nvPr>
        </p:nvSpPr>
        <p:spPr>
          <a:xfrm>
            <a:off x="5159950" y="1138775"/>
            <a:ext cx="2338200" cy="13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10134819">
            <a:off x="3700" y="1321765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9160750">
            <a:off x="563096" y="-461936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5400000">
            <a:off x="1727850" y="412799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026875" y="3518965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3288291">
            <a:off x="1241850" y="-341370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6288164">
            <a:off x="2521265" y="1666511"/>
            <a:ext cx="1697478" cy="164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9160750">
            <a:off x="1811646" y="1663114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-694950" y="-222110"/>
            <a:ext cx="1572000" cy="20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713225" y="1950152"/>
            <a:ext cx="25377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18"/>
          <p:cNvSpPr txBox="1"/>
          <p:nvPr>
            <p:ph idx="1" type="subTitle"/>
          </p:nvPr>
        </p:nvSpPr>
        <p:spPr>
          <a:xfrm>
            <a:off x="713225" y="2298242"/>
            <a:ext cx="25377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3" type="title"/>
          </p:nvPr>
        </p:nvSpPr>
        <p:spPr>
          <a:xfrm>
            <a:off x="5893076" y="2888525"/>
            <a:ext cx="25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0" name="Google Shape;160;p18"/>
          <p:cNvSpPr txBox="1"/>
          <p:nvPr>
            <p:ph idx="4" type="subTitle"/>
          </p:nvPr>
        </p:nvSpPr>
        <p:spPr>
          <a:xfrm>
            <a:off x="5893075" y="3257026"/>
            <a:ext cx="25377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734125" y="981213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2150" y="3753987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557911" y="-473000"/>
            <a:ext cx="2372929" cy="1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597377">
            <a:off x="6083001" y="-2198807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799990">
            <a:off x="-984822" y="704320"/>
            <a:ext cx="1774244" cy="403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0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988581" y="1246806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" name="Google Shape;168;p19"/>
          <p:cNvSpPr txBox="1"/>
          <p:nvPr>
            <p:ph idx="1" type="subTitle"/>
          </p:nvPr>
        </p:nvSpPr>
        <p:spPr>
          <a:xfrm>
            <a:off x="988581" y="1603842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9" name="Google Shape;169;p19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9"/>
          <p:cNvSpPr txBox="1"/>
          <p:nvPr>
            <p:ph idx="3" type="title"/>
          </p:nvPr>
        </p:nvSpPr>
        <p:spPr>
          <a:xfrm>
            <a:off x="988581" y="3123387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19"/>
          <p:cNvSpPr txBox="1"/>
          <p:nvPr>
            <p:ph idx="4" type="subTitle"/>
          </p:nvPr>
        </p:nvSpPr>
        <p:spPr>
          <a:xfrm>
            <a:off x="988581" y="3480422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5" type="title"/>
          </p:nvPr>
        </p:nvSpPr>
        <p:spPr>
          <a:xfrm>
            <a:off x="3372606" y="1246819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19"/>
          <p:cNvSpPr txBox="1"/>
          <p:nvPr>
            <p:ph idx="6" type="subTitle"/>
          </p:nvPr>
        </p:nvSpPr>
        <p:spPr>
          <a:xfrm>
            <a:off x="3372606" y="1603854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546976">
            <a:off x="-485442" y="-1198569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89500" y="-310000"/>
            <a:ext cx="1572000" cy="20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>
            <p:ph idx="7" type="title"/>
          </p:nvPr>
        </p:nvSpPr>
        <p:spPr>
          <a:xfrm>
            <a:off x="3373394" y="3139512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19"/>
          <p:cNvSpPr txBox="1"/>
          <p:nvPr>
            <p:ph idx="8" type="subTitle"/>
          </p:nvPr>
        </p:nvSpPr>
        <p:spPr>
          <a:xfrm>
            <a:off x="3373394" y="3496547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180706">
            <a:off x="5385563" y="2105288"/>
            <a:ext cx="2059525" cy="49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idx="1" type="subTitle"/>
          </p:nvPr>
        </p:nvSpPr>
        <p:spPr>
          <a:xfrm>
            <a:off x="727575" y="2064075"/>
            <a:ext cx="3701100" cy="20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p20"/>
          <p:cNvSpPr txBox="1"/>
          <p:nvPr>
            <p:ph idx="2" type="subTitle"/>
          </p:nvPr>
        </p:nvSpPr>
        <p:spPr>
          <a:xfrm>
            <a:off x="4729750" y="2064075"/>
            <a:ext cx="3701100" cy="20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698700" y="376250"/>
            <a:ext cx="1812850" cy="140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093575" y="70425"/>
            <a:ext cx="1209425" cy="15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7">
            <a:off x="2889925" y="3276801"/>
            <a:ext cx="1271700" cy="308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8">
            <a:off x="4467345" y="3044473"/>
            <a:ext cx="2002458" cy="455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981375" y="1998708"/>
            <a:ext cx="4061700" cy="19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546976">
            <a:off x="-485442" y="-893769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89500" y="-31000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031350" y="3095450"/>
            <a:ext cx="1724400" cy="41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9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idx="1" type="subTitle"/>
          </p:nvPr>
        </p:nvSpPr>
        <p:spPr>
          <a:xfrm>
            <a:off x="4029375" y="1998708"/>
            <a:ext cx="4061700" cy="19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95" name="Google Shape;195;p2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6" name="Google Shape;19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3546976">
            <a:off x="7847308" y="-893769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03200" y="-31000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650100" y="3034450"/>
            <a:ext cx="1724400" cy="41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909400" y="2363522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909400" y="2720558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3" type="title"/>
          </p:nvPr>
        </p:nvSpPr>
        <p:spPr>
          <a:xfrm>
            <a:off x="3487100" y="2363522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4" name="Google Shape;204;p23"/>
          <p:cNvSpPr txBox="1"/>
          <p:nvPr>
            <p:ph idx="4" type="subTitle"/>
          </p:nvPr>
        </p:nvSpPr>
        <p:spPr>
          <a:xfrm>
            <a:off x="3487100" y="2720558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5" type="title"/>
          </p:nvPr>
        </p:nvSpPr>
        <p:spPr>
          <a:xfrm>
            <a:off x="6064800" y="2363522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6" name="Google Shape;206;p23"/>
          <p:cNvSpPr txBox="1"/>
          <p:nvPr>
            <p:ph idx="6" type="subTitle"/>
          </p:nvPr>
        </p:nvSpPr>
        <p:spPr>
          <a:xfrm>
            <a:off x="6064801" y="2720558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546976">
            <a:off x="-485442" y="-893769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789500" y="-31000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031350" y="3095450"/>
            <a:ext cx="1724400" cy="41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8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2198350" y="2233731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2" name="Google Shape;212;p24"/>
          <p:cNvSpPr txBox="1"/>
          <p:nvPr>
            <p:ph idx="1" type="subTitle"/>
          </p:nvPr>
        </p:nvSpPr>
        <p:spPr>
          <a:xfrm>
            <a:off x="2198350" y="2590767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3" name="Google Shape;213;p24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p24"/>
          <p:cNvSpPr txBox="1"/>
          <p:nvPr>
            <p:ph idx="3" type="title"/>
          </p:nvPr>
        </p:nvSpPr>
        <p:spPr>
          <a:xfrm>
            <a:off x="4776050" y="2233731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24"/>
          <p:cNvSpPr txBox="1"/>
          <p:nvPr>
            <p:ph idx="4" type="subTitle"/>
          </p:nvPr>
        </p:nvSpPr>
        <p:spPr>
          <a:xfrm>
            <a:off x="4776050" y="2590767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546976">
            <a:off x="-485442" y="-893769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365525" y="4494600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742762" y="3134200"/>
            <a:ext cx="1659025" cy="15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611223">
            <a:off x="2644600" y="4491875"/>
            <a:ext cx="2835150" cy="2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8">
            <a:off x="7571045" y="-1740127"/>
            <a:ext cx="2002458" cy="455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-309963" y="3134200"/>
            <a:ext cx="1659025" cy="15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CUSTOM_10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type="title"/>
          </p:nvPr>
        </p:nvSpPr>
        <p:spPr>
          <a:xfrm>
            <a:off x="2198350" y="2668322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4" name="Google Shape;224;p25"/>
          <p:cNvSpPr txBox="1"/>
          <p:nvPr>
            <p:ph idx="1" type="subTitle"/>
          </p:nvPr>
        </p:nvSpPr>
        <p:spPr>
          <a:xfrm>
            <a:off x="2198350" y="3025358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5" name="Google Shape;225;p25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25"/>
          <p:cNvSpPr txBox="1"/>
          <p:nvPr>
            <p:ph idx="3" type="title"/>
          </p:nvPr>
        </p:nvSpPr>
        <p:spPr>
          <a:xfrm>
            <a:off x="4776050" y="2668322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7" name="Google Shape;227;p25"/>
          <p:cNvSpPr txBox="1"/>
          <p:nvPr>
            <p:ph idx="4" type="subTitle"/>
          </p:nvPr>
        </p:nvSpPr>
        <p:spPr>
          <a:xfrm>
            <a:off x="4776050" y="3025358"/>
            <a:ext cx="21696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28" name="Google Shape;22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546976">
            <a:off x="-485442" y="-893769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365525" y="4494600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218200" y="3327325"/>
            <a:ext cx="1659025" cy="15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611223">
            <a:off x="2644600" y="4491875"/>
            <a:ext cx="2835150" cy="2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8">
            <a:off x="7571045" y="-1740127"/>
            <a:ext cx="2002458" cy="455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698700" y="376250"/>
            <a:ext cx="1812850" cy="140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093575" y="70425"/>
            <a:ext cx="1209425" cy="15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6202858">
            <a:off x="3893650" y="3376778"/>
            <a:ext cx="1271700" cy="308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4597155">
            <a:off x="5301490" y="3580353"/>
            <a:ext cx="2002458" cy="455925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CUSTOM_12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4734819">
            <a:off x="6034912" y="1086136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760750">
            <a:off x="3687884" y="2197658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9112" y="425231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5400000">
            <a:off x="7092837" y="4248586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8688291">
            <a:off x="2466517" y="4229545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9911836">
            <a:off x="4981222" y="5002136"/>
            <a:ext cx="1697478" cy="164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760750">
            <a:off x="6283059" y="2987283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351762" y="2236811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900296">
            <a:off x="6369868" y="683844"/>
            <a:ext cx="2386824" cy="43813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/>
          <p:nvPr>
            <p:ph type="title"/>
          </p:nvPr>
        </p:nvSpPr>
        <p:spPr>
          <a:xfrm flipH="1">
            <a:off x="1117500" y="838200"/>
            <a:ext cx="6909000" cy="11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4734819">
            <a:off x="-861188" y="1086136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12" y="425231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5400000">
            <a:off x="196737" y="4248586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760750">
            <a:off x="-1204804" y="1537658"/>
            <a:ext cx="2002458" cy="4559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909400" y="3204375"/>
            <a:ext cx="21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6" name="Google Shape;256;p28"/>
          <p:cNvSpPr txBox="1"/>
          <p:nvPr>
            <p:ph idx="1" type="subTitle"/>
          </p:nvPr>
        </p:nvSpPr>
        <p:spPr>
          <a:xfrm>
            <a:off x="909400" y="3572884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7" name="Google Shape;257;p28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3" type="title"/>
          </p:nvPr>
        </p:nvSpPr>
        <p:spPr>
          <a:xfrm>
            <a:off x="3487101" y="3204375"/>
            <a:ext cx="21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9" name="Google Shape;259;p28"/>
          <p:cNvSpPr txBox="1"/>
          <p:nvPr>
            <p:ph idx="4" type="subTitle"/>
          </p:nvPr>
        </p:nvSpPr>
        <p:spPr>
          <a:xfrm>
            <a:off x="3487100" y="3572884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0" name="Google Shape;260;p28"/>
          <p:cNvSpPr txBox="1"/>
          <p:nvPr>
            <p:ph idx="5" type="title"/>
          </p:nvPr>
        </p:nvSpPr>
        <p:spPr>
          <a:xfrm>
            <a:off x="6064802" y="3204375"/>
            <a:ext cx="21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1" name="Google Shape;261;p28"/>
          <p:cNvSpPr txBox="1"/>
          <p:nvPr>
            <p:ph idx="6" type="subTitle"/>
          </p:nvPr>
        </p:nvSpPr>
        <p:spPr>
          <a:xfrm>
            <a:off x="6064800" y="3572884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62" name="Google Shape;26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3365525" y="4494600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8218200" y="3327325"/>
            <a:ext cx="1659025" cy="15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355986">
            <a:off x="-232067" y="311450"/>
            <a:ext cx="1328784" cy="322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611223">
            <a:off x="2644600" y="4491875"/>
            <a:ext cx="2835150" cy="2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8">
            <a:off x="7571045" y="-1740127"/>
            <a:ext cx="2002458" cy="455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2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title"/>
          </p:nvPr>
        </p:nvSpPr>
        <p:spPr>
          <a:xfrm>
            <a:off x="1986650" y="1320550"/>
            <a:ext cx="27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9" name="Google Shape;269;p29"/>
          <p:cNvSpPr txBox="1"/>
          <p:nvPr>
            <p:ph idx="1" type="subTitle"/>
          </p:nvPr>
        </p:nvSpPr>
        <p:spPr>
          <a:xfrm>
            <a:off x="1986650" y="1687090"/>
            <a:ext cx="27489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0" name="Google Shape;270;p29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29"/>
          <p:cNvSpPr txBox="1"/>
          <p:nvPr>
            <p:ph idx="3" type="title"/>
          </p:nvPr>
        </p:nvSpPr>
        <p:spPr>
          <a:xfrm>
            <a:off x="1986651" y="2410105"/>
            <a:ext cx="27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2" name="Google Shape;272;p29"/>
          <p:cNvSpPr txBox="1"/>
          <p:nvPr>
            <p:ph idx="4" type="subTitle"/>
          </p:nvPr>
        </p:nvSpPr>
        <p:spPr>
          <a:xfrm>
            <a:off x="1986650" y="2767986"/>
            <a:ext cx="27489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3" name="Google Shape;273;p29"/>
          <p:cNvSpPr txBox="1"/>
          <p:nvPr>
            <p:ph idx="5" type="title"/>
          </p:nvPr>
        </p:nvSpPr>
        <p:spPr>
          <a:xfrm>
            <a:off x="1986652" y="3508295"/>
            <a:ext cx="27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4" name="Google Shape;274;p29"/>
          <p:cNvSpPr txBox="1"/>
          <p:nvPr>
            <p:ph idx="6" type="subTitle"/>
          </p:nvPr>
        </p:nvSpPr>
        <p:spPr>
          <a:xfrm>
            <a:off x="1986650" y="3870514"/>
            <a:ext cx="27489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3282886">
            <a:off x="8609178" y="2736320"/>
            <a:ext cx="1774245" cy="403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797200" y="29411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500000">
            <a:off x="-1570436" y="1705650"/>
            <a:ext cx="3031284" cy="217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4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757075" y="1306896"/>
            <a:ext cx="2169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subTitle"/>
          </p:nvPr>
        </p:nvSpPr>
        <p:spPr>
          <a:xfrm>
            <a:off x="757075" y="1706026"/>
            <a:ext cx="2169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1" name="Google Shape;281;p30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30"/>
          <p:cNvSpPr txBox="1"/>
          <p:nvPr>
            <p:ph idx="3" type="title"/>
          </p:nvPr>
        </p:nvSpPr>
        <p:spPr>
          <a:xfrm>
            <a:off x="757075" y="3304764"/>
            <a:ext cx="2169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30"/>
          <p:cNvSpPr txBox="1"/>
          <p:nvPr>
            <p:ph idx="4" type="subTitle"/>
          </p:nvPr>
        </p:nvSpPr>
        <p:spPr>
          <a:xfrm>
            <a:off x="757075" y="3703903"/>
            <a:ext cx="21696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4" name="Google Shape;284;p30"/>
          <p:cNvSpPr txBox="1"/>
          <p:nvPr>
            <p:ph idx="5" type="title"/>
          </p:nvPr>
        </p:nvSpPr>
        <p:spPr>
          <a:xfrm>
            <a:off x="6217275" y="1306896"/>
            <a:ext cx="2169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5" name="Google Shape;285;p30"/>
          <p:cNvSpPr txBox="1"/>
          <p:nvPr>
            <p:ph idx="6" type="subTitle"/>
          </p:nvPr>
        </p:nvSpPr>
        <p:spPr>
          <a:xfrm>
            <a:off x="6217275" y="1706026"/>
            <a:ext cx="2169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6" name="Google Shape;286;p30"/>
          <p:cNvSpPr txBox="1"/>
          <p:nvPr>
            <p:ph idx="7" type="title"/>
          </p:nvPr>
        </p:nvSpPr>
        <p:spPr>
          <a:xfrm>
            <a:off x="6217275" y="3304764"/>
            <a:ext cx="2169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7" name="Google Shape;287;p30"/>
          <p:cNvSpPr txBox="1"/>
          <p:nvPr>
            <p:ph idx="8" type="subTitle"/>
          </p:nvPr>
        </p:nvSpPr>
        <p:spPr>
          <a:xfrm>
            <a:off x="6217275" y="3703903"/>
            <a:ext cx="21696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88" name="Google Shape;28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5400000">
            <a:off x="-327025" y="-99117"/>
            <a:ext cx="1179500" cy="1528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">
            <a:off x="8148458" y="2558906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6873762">
            <a:off x="-762358" y="4141272"/>
            <a:ext cx="2309973" cy="1325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6873762">
            <a:off x="7891692" y="-338928"/>
            <a:ext cx="2309973" cy="132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/>
          <p:nvPr>
            <p:ph type="title"/>
          </p:nvPr>
        </p:nvSpPr>
        <p:spPr>
          <a:xfrm>
            <a:off x="1624450" y="1629147"/>
            <a:ext cx="2694000" cy="4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4" name="Google Shape;294;p31"/>
          <p:cNvSpPr txBox="1"/>
          <p:nvPr>
            <p:ph idx="1" type="subTitle"/>
          </p:nvPr>
        </p:nvSpPr>
        <p:spPr>
          <a:xfrm>
            <a:off x="1624450" y="1990162"/>
            <a:ext cx="26940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5" name="Google Shape;295;p31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3" type="title"/>
          </p:nvPr>
        </p:nvSpPr>
        <p:spPr>
          <a:xfrm>
            <a:off x="4825396" y="1629147"/>
            <a:ext cx="2694000" cy="4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7" name="Google Shape;297;p31"/>
          <p:cNvSpPr txBox="1"/>
          <p:nvPr>
            <p:ph idx="4" type="subTitle"/>
          </p:nvPr>
        </p:nvSpPr>
        <p:spPr>
          <a:xfrm>
            <a:off x="4825389" y="1990162"/>
            <a:ext cx="26940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8" name="Google Shape;298;p31"/>
          <p:cNvSpPr txBox="1"/>
          <p:nvPr>
            <p:ph idx="5" type="title"/>
          </p:nvPr>
        </p:nvSpPr>
        <p:spPr>
          <a:xfrm>
            <a:off x="1624450" y="2998172"/>
            <a:ext cx="2694000" cy="4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9" name="Google Shape;299;p31"/>
          <p:cNvSpPr txBox="1"/>
          <p:nvPr>
            <p:ph idx="6" type="subTitle"/>
          </p:nvPr>
        </p:nvSpPr>
        <p:spPr>
          <a:xfrm>
            <a:off x="1624450" y="3364383"/>
            <a:ext cx="26940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0" name="Google Shape;300;p31"/>
          <p:cNvSpPr txBox="1"/>
          <p:nvPr>
            <p:ph idx="7" type="title"/>
          </p:nvPr>
        </p:nvSpPr>
        <p:spPr>
          <a:xfrm>
            <a:off x="4825396" y="2998172"/>
            <a:ext cx="2694000" cy="4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31"/>
          <p:cNvSpPr txBox="1"/>
          <p:nvPr>
            <p:ph idx="8" type="subTitle"/>
          </p:nvPr>
        </p:nvSpPr>
        <p:spPr>
          <a:xfrm>
            <a:off x="4825389" y="3364383"/>
            <a:ext cx="26940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7138799">
            <a:off x="7705970" y="-1163991"/>
            <a:ext cx="1449612" cy="330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616525" y="385275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172175" y="3734100"/>
            <a:ext cx="1315650" cy="31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3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/>
          <p:nvPr>
            <p:ph type="title"/>
          </p:nvPr>
        </p:nvSpPr>
        <p:spPr>
          <a:xfrm>
            <a:off x="909500" y="1525322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7" name="Google Shape;307;p32"/>
          <p:cNvSpPr txBox="1"/>
          <p:nvPr>
            <p:ph idx="1" type="subTitle"/>
          </p:nvPr>
        </p:nvSpPr>
        <p:spPr>
          <a:xfrm>
            <a:off x="909500" y="1899670"/>
            <a:ext cx="2169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8" name="Google Shape;308;p32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p32"/>
          <p:cNvSpPr txBox="1"/>
          <p:nvPr>
            <p:ph idx="3" type="title"/>
          </p:nvPr>
        </p:nvSpPr>
        <p:spPr>
          <a:xfrm>
            <a:off x="3487200" y="1525325"/>
            <a:ext cx="21696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0" name="Google Shape;310;p32"/>
          <p:cNvSpPr txBox="1"/>
          <p:nvPr>
            <p:ph idx="4" type="subTitle"/>
          </p:nvPr>
        </p:nvSpPr>
        <p:spPr>
          <a:xfrm>
            <a:off x="3487200" y="1895925"/>
            <a:ext cx="2169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1" name="Google Shape;311;p32"/>
          <p:cNvSpPr txBox="1"/>
          <p:nvPr>
            <p:ph idx="5" type="title"/>
          </p:nvPr>
        </p:nvSpPr>
        <p:spPr>
          <a:xfrm>
            <a:off x="6064900" y="1525325"/>
            <a:ext cx="21696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2" name="Google Shape;312;p32"/>
          <p:cNvSpPr txBox="1"/>
          <p:nvPr>
            <p:ph idx="6" type="subTitle"/>
          </p:nvPr>
        </p:nvSpPr>
        <p:spPr>
          <a:xfrm>
            <a:off x="6064900" y="1895925"/>
            <a:ext cx="2169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3" name="Google Shape;313;p32"/>
          <p:cNvSpPr txBox="1"/>
          <p:nvPr>
            <p:ph idx="7" type="title"/>
          </p:nvPr>
        </p:nvSpPr>
        <p:spPr>
          <a:xfrm>
            <a:off x="2198450" y="3023347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4" name="Google Shape;314;p32"/>
          <p:cNvSpPr txBox="1"/>
          <p:nvPr>
            <p:ph idx="8" type="subTitle"/>
          </p:nvPr>
        </p:nvSpPr>
        <p:spPr>
          <a:xfrm>
            <a:off x="2198450" y="3397695"/>
            <a:ext cx="2169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5" name="Google Shape;315;p32"/>
          <p:cNvSpPr txBox="1"/>
          <p:nvPr>
            <p:ph idx="9" type="title"/>
          </p:nvPr>
        </p:nvSpPr>
        <p:spPr>
          <a:xfrm>
            <a:off x="4776150" y="3023347"/>
            <a:ext cx="2169600" cy="4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6" name="Google Shape;316;p32"/>
          <p:cNvSpPr txBox="1"/>
          <p:nvPr>
            <p:ph idx="13" type="subTitle"/>
          </p:nvPr>
        </p:nvSpPr>
        <p:spPr>
          <a:xfrm>
            <a:off x="4776151" y="3397695"/>
            <a:ext cx="2169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6199968">
            <a:off x="-234025" y="3712198"/>
            <a:ext cx="1858776" cy="180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811237">
            <a:off x="-1300104" y="3696376"/>
            <a:ext cx="3782333" cy="2711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6199968">
            <a:off x="7533836" y="3712198"/>
            <a:ext cx="1858776" cy="180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7811237">
            <a:off x="6676359" y="3696376"/>
            <a:ext cx="3782333" cy="2711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789500" y="-31000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859426">
            <a:off x="-497012" y="-346111"/>
            <a:ext cx="2569104" cy="1474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5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>
            <p:ph type="title"/>
          </p:nvPr>
        </p:nvSpPr>
        <p:spPr>
          <a:xfrm>
            <a:off x="4984225" y="768100"/>
            <a:ext cx="34464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10505536">
            <a:off x="6663982" y="1615757"/>
            <a:ext cx="2309973" cy="1325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2231359">
            <a:off x="4793010" y="2004157"/>
            <a:ext cx="1655192" cy="1602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830222">
            <a:off x="5663599" y="1070997"/>
            <a:ext cx="1733750" cy="394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909500" y="2823375"/>
            <a:ext cx="2169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34"/>
          <p:cNvSpPr txBox="1"/>
          <p:nvPr>
            <p:ph idx="1" type="subTitle"/>
          </p:nvPr>
        </p:nvSpPr>
        <p:spPr>
          <a:xfrm>
            <a:off x="909500" y="3222500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1" name="Google Shape;331;p34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2" name="Google Shape;332;p34"/>
          <p:cNvSpPr txBox="1"/>
          <p:nvPr>
            <p:ph idx="3" type="title"/>
          </p:nvPr>
        </p:nvSpPr>
        <p:spPr>
          <a:xfrm>
            <a:off x="3487200" y="2823375"/>
            <a:ext cx="2169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3" name="Google Shape;333;p34"/>
          <p:cNvSpPr txBox="1"/>
          <p:nvPr>
            <p:ph idx="4" type="subTitle"/>
          </p:nvPr>
        </p:nvSpPr>
        <p:spPr>
          <a:xfrm>
            <a:off x="3487200" y="3222500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4" name="Google Shape;334;p34"/>
          <p:cNvSpPr txBox="1"/>
          <p:nvPr>
            <p:ph idx="5" type="title"/>
          </p:nvPr>
        </p:nvSpPr>
        <p:spPr>
          <a:xfrm>
            <a:off x="6064900" y="2823375"/>
            <a:ext cx="2169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4"/>
          <p:cNvSpPr txBox="1"/>
          <p:nvPr>
            <p:ph idx="6" type="subTitle"/>
          </p:nvPr>
        </p:nvSpPr>
        <p:spPr>
          <a:xfrm>
            <a:off x="6064900" y="3222500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336" name="Google Shape;33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3365525" y="4494600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-894996" y="3327325"/>
            <a:ext cx="1659025" cy="15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9355986">
            <a:off x="7885512" y="311450"/>
            <a:ext cx="1328784" cy="322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8">
            <a:off x="-1988630" y="-2484802"/>
            <a:ext cx="2002458" cy="455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8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883291">
            <a:off x="6949222" y="270119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0088" y="823967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639246">
            <a:off x="8218900" y="3060775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587037" y="3103483"/>
            <a:ext cx="1947425" cy="18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5850653" y="-815900"/>
            <a:ext cx="2927674" cy="22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597377">
            <a:off x="5367339" y="1429880"/>
            <a:ext cx="2386824" cy="438138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5"/>
          <p:cNvSpPr txBox="1"/>
          <p:nvPr>
            <p:ph hasCustomPrompt="1" type="title"/>
          </p:nvPr>
        </p:nvSpPr>
        <p:spPr>
          <a:xfrm>
            <a:off x="713225" y="1581200"/>
            <a:ext cx="4437000" cy="14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8" name="Google Shape;348;p35"/>
          <p:cNvSpPr txBox="1"/>
          <p:nvPr>
            <p:ph idx="1" type="body"/>
          </p:nvPr>
        </p:nvSpPr>
        <p:spPr>
          <a:xfrm>
            <a:off x="713225" y="3072700"/>
            <a:ext cx="4437000" cy="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349" name="Google Shape;3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94983">
            <a:off x="5600400" y="-717375"/>
            <a:ext cx="1733751" cy="39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9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>
            <p:ph type="title"/>
          </p:nvPr>
        </p:nvSpPr>
        <p:spPr>
          <a:xfrm>
            <a:off x="2548800" y="2057313"/>
            <a:ext cx="40464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2" name="Google Shape;352;p36"/>
          <p:cNvSpPr txBox="1"/>
          <p:nvPr>
            <p:ph idx="1" type="body"/>
          </p:nvPr>
        </p:nvSpPr>
        <p:spPr>
          <a:xfrm>
            <a:off x="2548800" y="2718094"/>
            <a:ext cx="4046400" cy="14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53" name="Google Shape;35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175112" y="3103483"/>
            <a:ext cx="1947425" cy="18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438728" y="-815900"/>
            <a:ext cx="2927674" cy="22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597377">
            <a:off x="6955414" y="1429880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894983">
            <a:off x="7188475" y="-717375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3883291">
            <a:off x="208672" y="263059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-1153513" y="3032883"/>
            <a:ext cx="1947425" cy="18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889897" y="-886500"/>
            <a:ext cx="2927674" cy="22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597377">
            <a:off x="-1373211" y="1359280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894983">
            <a:off x="-1140150" y="-787975"/>
            <a:ext cx="1733751" cy="39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/>
          <p:nvPr>
            <p:ph type="title"/>
          </p:nvPr>
        </p:nvSpPr>
        <p:spPr>
          <a:xfrm>
            <a:off x="796825" y="1794475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4" name="Google Shape;364;p37"/>
          <p:cNvSpPr txBox="1"/>
          <p:nvPr>
            <p:ph idx="1" type="subTitle"/>
          </p:nvPr>
        </p:nvSpPr>
        <p:spPr>
          <a:xfrm>
            <a:off x="796825" y="2162984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5" name="Google Shape;365;p37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6" name="Google Shape;366;p37"/>
          <p:cNvSpPr txBox="1"/>
          <p:nvPr>
            <p:ph idx="3" type="title"/>
          </p:nvPr>
        </p:nvSpPr>
        <p:spPr>
          <a:xfrm>
            <a:off x="3374525" y="1794475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37"/>
          <p:cNvSpPr txBox="1"/>
          <p:nvPr>
            <p:ph idx="4" type="subTitle"/>
          </p:nvPr>
        </p:nvSpPr>
        <p:spPr>
          <a:xfrm>
            <a:off x="3374525" y="2162984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8" name="Google Shape;368;p37"/>
          <p:cNvSpPr txBox="1"/>
          <p:nvPr>
            <p:ph idx="5" type="title"/>
          </p:nvPr>
        </p:nvSpPr>
        <p:spPr>
          <a:xfrm>
            <a:off x="796825" y="3472591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6" type="subTitle"/>
          </p:nvPr>
        </p:nvSpPr>
        <p:spPr>
          <a:xfrm>
            <a:off x="796825" y="3841100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0" name="Google Shape;370;p37"/>
          <p:cNvSpPr txBox="1"/>
          <p:nvPr>
            <p:ph idx="7" type="title"/>
          </p:nvPr>
        </p:nvSpPr>
        <p:spPr>
          <a:xfrm>
            <a:off x="3374525" y="3472591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1" name="Google Shape;371;p37"/>
          <p:cNvSpPr txBox="1"/>
          <p:nvPr>
            <p:ph idx="8" type="subTitle"/>
          </p:nvPr>
        </p:nvSpPr>
        <p:spPr>
          <a:xfrm>
            <a:off x="3374525" y="3841100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>
            <p:ph idx="9" type="title"/>
          </p:nvPr>
        </p:nvSpPr>
        <p:spPr>
          <a:xfrm>
            <a:off x="5952150" y="1794475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3" name="Google Shape;373;p37"/>
          <p:cNvSpPr txBox="1"/>
          <p:nvPr>
            <p:ph idx="13" type="subTitle"/>
          </p:nvPr>
        </p:nvSpPr>
        <p:spPr>
          <a:xfrm>
            <a:off x="5952150" y="2162984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4" type="title"/>
          </p:nvPr>
        </p:nvSpPr>
        <p:spPr>
          <a:xfrm>
            <a:off x="5952150" y="3472591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5" name="Google Shape;375;p37"/>
          <p:cNvSpPr txBox="1"/>
          <p:nvPr>
            <p:ph idx="15" type="subTitle"/>
          </p:nvPr>
        </p:nvSpPr>
        <p:spPr>
          <a:xfrm>
            <a:off x="5952150" y="3841100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376" name="Google Shape;37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10059469">
            <a:off x="-250407" y="191408"/>
            <a:ext cx="1320763" cy="3203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-327025" y="-99117"/>
            <a:ext cx="1179500" cy="1528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">
            <a:off x="7978008" y="2558906"/>
            <a:ext cx="1796434" cy="4090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/>
          <p:nvPr>
            <p:ph idx="1" type="subTitle"/>
          </p:nvPr>
        </p:nvSpPr>
        <p:spPr>
          <a:xfrm>
            <a:off x="2640050" y="2283675"/>
            <a:ext cx="3863700" cy="13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1" name="Google Shape;381;p38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3883295">
            <a:off x="183142" y="3147922"/>
            <a:ext cx="2309974" cy="1325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3624" y="1801283"/>
            <a:ext cx="1655192" cy="1602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639246">
            <a:off x="-112326" y="-148575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6057767">
            <a:off x="7202025" y="1933876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2325" y="1217667"/>
            <a:ext cx="2386824" cy="43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/>
          <p:cNvSpPr txBox="1"/>
          <p:nvPr>
            <p:ph idx="1" type="subTitle"/>
          </p:nvPr>
        </p:nvSpPr>
        <p:spPr>
          <a:xfrm>
            <a:off x="1729425" y="1735225"/>
            <a:ext cx="5685000" cy="28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9" name="Google Shape;389;p39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0" name="Google Shape;39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9160750">
            <a:off x="7533060" y="-626757"/>
            <a:ext cx="2002458" cy="455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859426">
            <a:off x="-1146437" y="1931239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31139" y="1469895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-1511861" y="3483875"/>
            <a:ext cx="4008350" cy="287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134819">
            <a:off x="8170864" y="1156945"/>
            <a:ext cx="1924050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4_1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/>
          <p:nvPr>
            <p:ph idx="1" type="subTitle"/>
          </p:nvPr>
        </p:nvSpPr>
        <p:spPr>
          <a:xfrm>
            <a:off x="1275750" y="2296400"/>
            <a:ext cx="2906100" cy="1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7" name="Google Shape;397;p40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8" name="Google Shape;39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665182">
            <a:off x="7579958" y="1446998"/>
            <a:ext cx="1492285" cy="3619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58732">
            <a:off x="-796229" y="377347"/>
            <a:ext cx="2002458" cy="4559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1801" y="222617"/>
            <a:ext cx="2386824" cy="43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 txBox="1"/>
          <p:nvPr>
            <p:ph hasCustomPrompt="1" type="title"/>
          </p:nvPr>
        </p:nvSpPr>
        <p:spPr>
          <a:xfrm>
            <a:off x="2519813" y="730000"/>
            <a:ext cx="44445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03" name="Google Shape;403;p41"/>
          <p:cNvSpPr txBox="1"/>
          <p:nvPr>
            <p:ph idx="1" type="subTitle"/>
          </p:nvPr>
        </p:nvSpPr>
        <p:spPr>
          <a:xfrm>
            <a:off x="2519813" y="1291600"/>
            <a:ext cx="44445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4" name="Google Shape;404;p41"/>
          <p:cNvSpPr txBox="1"/>
          <p:nvPr>
            <p:ph hasCustomPrompt="1" idx="2" type="title"/>
          </p:nvPr>
        </p:nvSpPr>
        <p:spPr>
          <a:xfrm>
            <a:off x="2519813" y="2062050"/>
            <a:ext cx="44445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3" type="subTitle"/>
          </p:nvPr>
        </p:nvSpPr>
        <p:spPr>
          <a:xfrm>
            <a:off x="2519813" y="2623650"/>
            <a:ext cx="44445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6" name="Google Shape;406;p41"/>
          <p:cNvSpPr txBox="1"/>
          <p:nvPr>
            <p:ph hasCustomPrompt="1" idx="4" type="title"/>
          </p:nvPr>
        </p:nvSpPr>
        <p:spPr>
          <a:xfrm>
            <a:off x="2519813" y="3394100"/>
            <a:ext cx="44445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07" name="Google Shape;407;p41"/>
          <p:cNvSpPr txBox="1"/>
          <p:nvPr>
            <p:ph idx="5" type="subTitle"/>
          </p:nvPr>
        </p:nvSpPr>
        <p:spPr>
          <a:xfrm>
            <a:off x="2349863" y="3955700"/>
            <a:ext cx="47844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408" name="Google Shape;40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2700007">
            <a:off x="25048" y="82573"/>
            <a:ext cx="1572004" cy="381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778591">
            <a:off x="-1087250" y="975950"/>
            <a:ext cx="3084300" cy="221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6969861" y="3334438"/>
            <a:ext cx="2372929" cy="1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7302250" y="2628225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8">
            <a:off x="7340345" y="292123"/>
            <a:ext cx="2002458" cy="455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2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/>
          <p:cNvSpPr txBox="1"/>
          <p:nvPr>
            <p:ph type="title"/>
          </p:nvPr>
        </p:nvSpPr>
        <p:spPr>
          <a:xfrm>
            <a:off x="2085675" y="1468448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5" name="Google Shape;415;p42"/>
          <p:cNvSpPr txBox="1"/>
          <p:nvPr>
            <p:ph idx="1" type="subTitle"/>
          </p:nvPr>
        </p:nvSpPr>
        <p:spPr>
          <a:xfrm>
            <a:off x="2085675" y="1836957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6" name="Google Shape;416;p42"/>
          <p:cNvSpPr txBox="1"/>
          <p:nvPr>
            <p:ph idx="2" type="title"/>
          </p:nvPr>
        </p:nvSpPr>
        <p:spPr>
          <a:xfrm>
            <a:off x="4663375" y="1468448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7" name="Google Shape;417;p42"/>
          <p:cNvSpPr txBox="1"/>
          <p:nvPr>
            <p:ph idx="3" type="subTitle"/>
          </p:nvPr>
        </p:nvSpPr>
        <p:spPr>
          <a:xfrm>
            <a:off x="4663375" y="1836957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8" name="Google Shape;418;p42"/>
          <p:cNvSpPr txBox="1"/>
          <p:nvPr>
            <p:ph idx="4" type="title"/>
          </p:nvPr>
        </p:nvSpPr>
        <p:spPr>
          <a:xfrm>
            <a:off x="2085675" y="3222764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9" name="Google Shape;419;p42"/>
          <p:cNvSpPr txBox="1"/>
          <p:nvPr>
            <p:ph idx="5" type="subTitle"/>
          </p:nvPr>
        </p:nvSpPr>
        <p:spPr>
          <a:xfrm>
            <a:off x="2085675" y="3591273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0" name="Google Shape;420;p42"/>
          <p:cNvSpPr txBox="1"/>
          <p:nvPr>
            <p:ph idx="6" type="title"/>
          </p:nvPr>
        </p:nvSpPr>
        <p:spPr>
          <a:xfrm>
            <a:off x="4663413" y="3236135"/>
            <a:ext cx="23949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1" name="Google Shape;421;p42"/>
          <p:cNvSpPr txBox="1"/>
          <p:nvPr>
            <p:ph idx="7" type="subTitle"/>
          </p:nvPr>
        </p:nvSpPr>
        <p:spPr>
          <a:xfrm>
            <a:off x="4663412" y="3604644"/>
            <a:ext cx="23949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422" name="Google Shape;4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10059469">
            <a:off x="-250407" y="191408"/>
            <a:ext cx="1320763" cy="3203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-327025" y="-99117"/>
            <a:ext cx="1179500" cy="152813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2"/>
          <p:cNvSpPr txBox="1"/>
          <p:nvPr>
            <p:ph hasCustomPrompt="1" idx="8" type="title"/>
          </p:nvPr>
        </p:nvSpPr>
        <p:spPr>
          <a:xfrm>
            <a:off x="2085675" y="906461"/>
            <a:ext cx="23949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25" name="Google Shape;425;p42"/>
          <p:cNvSpPr txBox="1"/>
          <p:nvPr>
            <p:ph hasCustomPrompt="1" idx="9" type="title"/>
          </p:nvPr>
        </p:nvSpPr>
        <p:spPr>
          <a:xfrm>
            <a:off x="2085675" y="2673336"/>
            <a:ext cx="23949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26" name="Google Shape;426;p42"/>
          <p:cNvSpPr txBox="1"/>
          <p:nvPr>
            <p:ph hasCustomPrompt="1" idx="13" type="title"/>
          </p:nvPr>
        </p:nvSpPr>
        <p:spPr>
          <a:xfrm>
            <a:off x="4663425" y="906456"/>
            <a:ext cx="23949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27" name="Google Shape;427;p42"/>
          <p:cNvSpPr txBox="1"/>
          <p:nvPr>
            <p:ph hasCustomPrompt="1" idx="14" type="title"/>
          </p:nvPr>
        </p:nvSpPr>
        <p:spPr>
          <a:xfrm>
            <a:off x="4663338" y="2674556"/>
            <a:ext cx="23949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740531">
            <a:off x="8074443" y="1777596"/>
            <a:ext cx="1320763" cy="3203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8292325" y="3743770"/>
            <a:ext cx="1179500" cy="152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4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/>
          <p:cNvSpPr txBox="1"/>
          <p:nvPr>
            <p:ph type="title"/>
          </p:nvPr>
        </p:nvSpPr>
        <p:spPr>
          <a:xfrm>
            <a:off x="887850" y="1523909"/>
            <a:ext cx="40464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2" name="Google Shape;432;p43"/>
          <p:cNvSpPr txBox="1"/>
          <p:nvPr>
            <p:ph idx="1" type="body"/>
          </p:nvPr>
        </p:nvSpPr>
        <p:spPr>
          <a:xfrm>
            <a:off x="887850" y="2184691"/>
            <a:ext cx="4046400" cy="14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33" name="Google Shape;43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3883291">
            <a:off x="106049" y="-726581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49275" y="3985688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7244838" y="-168258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112250" y="-881358"/>
            <a:ext cx="2386824" cy="43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CUSTOM_23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4"/>
          <p:cNvSpPr txBox="1"/>
          <p:nvPr>
            <p:ph type="title"/>
          </p:nvPr>
        </p:nvSpPr>
        <p:spPr>
          <a:xfrm>
            <a:off x="1893550" y="3128175"/>
            <a:ext cx="21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9" name="Google Shape;439;p44"/>
          <p:cNvSpPr txBox="1"/>
          <p:nvPr>
            <p:ph idx="1" type="subTitle"/>
          </p:nvPr>
        </p:nvSpPr>
        <p:spPr>
          <a:xfrm>
            <a:off x="1893550" y="3496684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0" name="Google Shape;440;p44"/>
          <p:cNvSpPr txBox="1"/>
          <p:nvPr>
            <p:ph idx="2"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44"/>
          <p:cNvSpPr txBox="1"/>
          <p:nvPr>
            <p:ph idx="3" type="title"/>
          </p:nvPr>
        </p:nvSpPr>
        <p:spPr>
          <a:xfrm>
            <a:off x="5080850" y="3128175"/>
            <a:ext cx="21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2" name="Google Shape;442;p44"/>
          <p:cNvSpPr txBox="1"/>
          <p:nvPr>
            <p:ph idx="4" type="subTitle"/>
          </p:nvPr>
        </p:nvSpPr>
        <p:spPr>
          <a:xfrm>
            <a:off x="5080850" y="3496684"/>
            <a:ext cx="2169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443" name="Google Shape;44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9355986">
            <a:off x="8434933" y="2299925"/>
            <a:ext cx="1328784" cy="322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7580934">
            <a:off x="7823550" y="1887200"/>
            <a:ext cx="2835150" cy="2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859426">
            <a:off x="-1541312" y="225761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-658061" y="1451270"/>
            <a:ext cx="1393300" cy="13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883291">
            <a:off x="6999497" y="-726581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4500" y="3985688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938" y="-168258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576" y="-881358"/>
            <a:ext cx="2386824" cy="4381382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5"/>
          <p:cNvSpPr txBox="1"/>
          <p:nvPr>
            <p:ph type="title"/>
          </p:nvPr>
        </p:nvSpPr>
        <p:spPr>
          <a:xfrm>
            <a:off x="4935278" y="1448500"/>
            <a:ext cx="33102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3" name="Google Shape;453;p45"/>
          <p:cNvSpPr txBox="1"/>
          <p:nvPr>
            <p:ph idx="1" type="body"/>
          </p:nvPr>
        </p:nvSpPr>
        <p:spPr>
          <a:xfrm>
            <a:off x="4935278" y="2109278"/>
            <a:ext cx="3310200" cy="14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 algn="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25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/>
          <p:nvPr>
            <p:ph type="title"/>
          </p:nvPr>
        </p:nvSpPr>
        <p:spPr>
          <a:xfrm>
            <a:off x="914927" y="1448500"/>
            <a:ext cx="33102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6" name="Google Shape;456;p46"/>
          <p:cNvSpPr txBox="1"/>
          <p:nvPr>
            <p:ph idx="1" type="body"/>
          </p:nvPr>
        </p:nvSpPr>
        <p:spPr>
          <a:xfrm>
            <a:off x="914927" y="2109278"/>
            <a:ext cx="3310200" cy="14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57" name="Google Shape;45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678227">
            <a:off x="-632326" y="3866920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88525" y="-5509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7244838" y="-168258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112250" y="-881358"/>
            <a:ext cx="2386824" cy="43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7"/>
          <p:cNvSpPr txBox="1"/>
          <p:nvPr>
            <p:ph type="ctrTitle"/>
          </p:nvPr>
        </p:nvSpPr>
        <p:spPr>
          <a:xfrm>
            <a:off x="2733325" y="539500"/>
            <a:ext cx="3677400" cy="9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3" name="Google Shape;463;p47"/>
          <p:cNvSpPr txBox="1"/>
          <p:nvPr>
            <p:ph idx="1" type="subTitle"/>
          </p:nvPr>
        </p:nvSpPr>
        <p:spPr>
          <a:xfrm>
            <a:off x="2733375" y="1531350"/>
            <a:ext cx="3677400" cy="11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4" name="Google Shape;464;p47"/>
          <p:cNvSpPr txBox="1"/>
          <p:nvPr/>
        </p:nvSpPr>
        <p:spPr>
          <a:xfrm>
            <a:off x="2733175" y="3270700"/>
            <a:ext cx="36777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65" name="Google Shape;46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590765" y="1291116"/>
            <a:ext cx="2786538" cy="216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389693" y="193321"/>
            <a:ext cx="2058291" cy="199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-989076" y="3091849"/>
            <a:ext cx="4033303" cy="28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3546973">
            <a:off x="7590178" y="1978886"/>
            <a:ext cx="1674669" cy="3812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665179">
            <a:off x="6799174" y="-791526"/>
            <a:ext cx="1769485" cy="4292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6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6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9305281">
            <a:off x="6956225" y="-36025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399999">
            <a:off x="6172375" y="658451"/>
            <a:ext cx="3810950" cy="27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0">
            <a:off x="155678" y="1026170"/>
            <a:ext cx="1774244" cy="403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6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178600" y="1607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956358">
            <a:off x="5559239" y="-167628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132425" y="2105999"/>
            <a:ext cx="2786538" cy="216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-119786" y="3372335"/>
            <a:ext cx="2058291" cy="199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6645600" y="36980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-5400000">
            <a:off x="7220750" y="359375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358732">
            <a:off x="-399179" y="-654803"/>
            <a:ext cx="2002458" cy="455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1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85" name="Google Shape;485;p51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Escud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822960" cy="822960"/>
          </a:xfrm>
          <a:prstGeom prst="rect">
            <a:avLst/>
          </a:prstGeom>
        </p:spPr>
      </p:pic>
      <p:pic>
        <p:nvPicPr>
          <p:cNvPr id="5" name="Picture 4" descr="LogoMC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5488"/>
            <a:ext cx="1554480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325880"/>
            <a:ext cx="7589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435D74"/>
                </a:solidFill>
                <a:latin typeface="Karla"/>
              </a:defRPr>
            </a:pPr>
            <a:r>
              <a:t>UNIVERSIDAD DISTRITAL FRANCISCO JOSÉ DE CALDAS</a:t>
            </a:r>
            <a:br/>
            <a:r>
              <a:t>MAESTRÍA EN CIENCIAS DE LA INFORMACIÓN Y LAS COMUNICACIONES</a:t>
            </a:r>
          </a:p>
          <a:p>
            <a:pPr>
              <a:spcAft>
                <a:spcPts val="800"/>
              </a:spcAft>
              <a:defRPr sz="2800" b="1">
                <a:solidFill>
                  <a:srgbClr val="0E2A47"/>
                </a:solidFill>
                <a:latin typeface="DM Serif Display"/>
              </a:defRPr>
            </a:pPr>
            <a:r>
              <a:t>Perceptrón Multicapa (MLP) y</a:t>
            </a:r>
            <a:br/>
            <a:r>
              <a:t>Retropropagación del Error</a:t>
            </a:r>
          </a:p>
          <a:p>
            <a:pPr>
              <a:defRPr sz="1200">
                <a:solidFill>
                  <a:srgbClr val="88664A"/>
                </a:solidFill>
                <a:latin typeface="Karla"/>
              </a:defRPr>
            </a:pPr>
            <a:r>
              <a:t>Taller 2: Fundamentos Analíticos, Aceleración Inercial β, Espacios Latentes y Regularización Espectral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20440"/>
            <a:ext cx="7589520" cy="12344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84448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0E2A47"/>
                </a:solidFill>
              </a:rPr>
              <a:t>Asignatura: </a:t>
            </a:r>
            <a:r>
              <a:rPr sz="1100">
                <a:solidFill>
                  <a:srgbClr val="222222"/>
                </a:solidFill>
              </a:rPr>
              <a:t>Inteligencia Computacional Aplicada  |  </a:t>
            </a:r>
            <a:r>
              <a:rPr b="1" sz="1100">
                <a:solidFill>
                  <a:srgbClr val="0E2A47"/>
                </a:solidFill>
              </a:rPr>
              <a:t>Docente: </a:t>
            </a:r>
            <a:r>
              <a:rPr sz="1100">
                <a:solidFill>
                  <a:srgbClr val="222222"/>
                </a:solidFill>
              </a:rPr>
              <a:t>Ph.D. Cesar Andrey Perdomo Charry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2A47"/>
                </a:solidFill>
              </a:rPr>
              <a:t>Estudiante: </a:t>
            </a:r>
            <a:r>
              <a:rPr sz="1100">
                <a:solidFill>
                  <a:srgbClr val="222222"/>
                </a:solidFill>
              </a:rPr>
              <a:t>Juan Felipe Rodríguez Galindo  |  </a:t>
            </a:r>
            <a:r>
              <a:rPr b="1" sz="1100">
                <a:solidFill>
                  <a:srgbClr val="0E2A47"/>
                </a:solidFill>
              </a:rPr>
              <a:t>Código: </a:t>
            </a:r>
            <a:r>
              <a:rPr sz="1100">
                <a:solidFill>
                  <a:srgbClr val="222222"/>
                </a:solidFill>
              </a:rPr>
              <a:t>20261595004</a:t>
            </a:r>
          </a:p>
          <a:p>
            <a:r>
              <a:rPr sz="1000">
                <a:solidFill>
                  <a:srgbClr val="595959"/>
                </a:solidFill>
              </a:rPr>
              <a:t>Entregable Oficial: Presentación Ejecutiva y Defensa Técnica  •  Bogotá D.C.,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01. FUNDAMENTO HISTÓRICO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Ruptura de la Barrera de Minsky-Papert y No-Linealidad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3657600" cy="3566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2A47"/>
                </a:solidFill>
                <a:latin typeface="DM Serif Display"/>
              </a:defRPr>
            </a:pPr>
            <a:r>
              <a:t>La Limitación Monocapa en XOR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0E2A47"/>
                </a:solidFill>
                <a:latin typeface="Karla"/>
              </a:rPr>
              <a:t>Geometría Hiperplana: </a:t>
            </a:r>
            <a:r>
              <a:rPr sz="1050">
                <a:solidFill>
                  <a:srgbClr val="222222"/>
                </a:solidFill>
                <a:latin typeface="Karla"/>
              </a:rPr>
              <a:t>Tanto el Perceptrón Simple como Adaline generan exclusivamente fronteras lineales: w₁x₁ + w₂x₂ + b = 0 en ℝ².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0E2A47"/>
                </a:solidFill>
                <a:latin typeface="Karla"/>
              </a:rPr>
              <a:t>El Problema XOR: </a:t>
            </a:r>
            <a:r>
              <a:rPr sz="1050">
                <a:solidFill>
                  <a:srgbClr val="222222"/>
                </a:solidFill>
                <a:latin typeface="Karla"/>
              </a:rPr>
              <a:t>Las clases {(0,1), (1,0)} y {(0,0), (1,1)} poseen correlación lineal nula (ρ = 0). Imposible de escindir con un solo hiperplano.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0E2A47"/>
                </a:solidFill>
                <a:latin typeface="Karla"/>
              </a:rPr>
              <a:t>Colapso Cuantitativo: </a:t>
            </a:r>
            <a:r>
              <a:rPr sz="1050">
                <a:solidFill>
                  <a:srgbClr val="222222"/>
                </a:solidFill>
                <a:latin typeface="Karla"/>
              </a:rPr>
              <a:t>El Perceptrón monocapa oscila indefinidamente sin converger, estancándose en exactitud ≤ 50.0% (equivalente al azar).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0E2A47"/>
                </a:solidFill>
                <a:latin typeface="Karla"/>
              </a:rPr>
              <a:t>El Invierno de la IA: </a:t>
            </a:r>
            <a:r>
              <a:rPr sz="1050">
                <a:solidFill>
                  <a:srgbClr val="222222"/>
                </a:solidFill>
                <a:latin typeface="Karla"/>
              </a:rPr>
              <a:t>Minsky y Papert (1969) conjeturaron falsamente que extender redes a multicapas sería computacionalmente inviable o estéril.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188720"/>
            <a:ext cx="3657600" cy="3566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8664A"/>
                </a:solidFill>
                <a:latin typeface="DM Serif Display"/>
              </a:defRPr>
            </a:pPr>
            <a:r>
              <a:t>Representación Latente y No-Linealidad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88664A"/>
                </a:solidFill>
                <a:latin typeface="Karla"/>
              </a:rPr>
              <a:t>Mapeo a Espacio Latente: </a:t>
            </a:r>
            <a:r>
              <a:rPr sz="1050">
                <a:solidFill>
                  <a:srgbClr val="222222"/>
                </a:solidFill>
                <a:latin typeface="Karla"/>
              </a:rPr>
              <a:t>Las capas ocultas actúan como proyectores no lineales Phi: ℝⁿ -&gt; [0, 1]ᵐ. Deforman el espacio tornando las clases linealmente separables.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88664A"/>
                </a:solidFill>
                <a:latin typeface="Karla"/>
              </a:rPr>
              <a:t>Aproximación Universal: </a:t>
            </a:r>
            <a:r>
              <a:rPr sz="1050">
                <a:solidFill>
                  <a:srgbClr val="222222"/>
                </a:solidFill>
                <a:latin typeface="Karla"/>
              </a:rPr>
              <a:t>Teorema de Cybenko (1989) y Hornik (1991): una capa oculta no lineal continua aproxima cualquier función boreliana acotada.</a:t>
            </a:r>
          </a:p>
          <a:p>
            <a:pPr algn="l">
              <a:spcAft>
                <a:spcPts val="6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88664A"/>
                </a:solidFill>
                <a:latin typeface="Karla"/>
              </a:rPr>
              <a:t>Activaciones Sigmoideas: </a:t>
            </a:r>
            <a:r>
              <a:rPr sz="1050">
                <a:solidFill>
                  <a:srgbClr val="222222"/>
                </a:solidFill>
                <a:latin typeface="Karla"/>
              </a:rPr>
              <a:t>El uso de funciones suaves continuas y diferenciables (σ, tanh) permite el cálculo exacto de gradientes analíticos.</a:t>
            </a:r>
          </a:p>
          <a:p>
            <a:pPr algn="l">
              <a:spcAft>
                <a:spcPts val="400"/>
              </a:spcAft>
            </a:pPr>
            <a:r>
              <a:rPr sz="950" b="1">
                <a:solidFill>
                  <a:srgbClr val="88664A"/>
                </a:solidFill>
                <a:latin typeface="Karla"/>
              </a:rPr>
              <a:t>▪ </a:t>
            </a:r>
            <a:r>
              <a:rPr sz="1050" b="1">
                <a:solidFill>
                  <a:srgbClr val="88664A"/>
                </a:solidFill>
                <a:latin typeface="Karla"/>
              </a:rPr>
              <a:t>Retropropagación (1986): </a:t>
            </a:r>
            <a:r>
              <a:rPr sz="1050">
                <a:solidFill>
                  <a:srgbClr val="222222"/>
                </a:solidFill>
                <a:latin typeface="Karla"/>
              </a:rPr>
              <a:t>Rumelhart, Hinton y Williams formalizan el flujo inverso del gradiente mediante regla de la cadena, destrabando la IA moderna.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02. FORMULACIÓN MATEMÁTICA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Arquitectura del MLP y Retropropagación con Momento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2395728" cy="3566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217627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  <a:latin typeface="DM Serif Display"/>
              </a:defRPr>
            </a:pPr>
            <a:r>
              <a:t>1. Forward Pass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0E2A47"/>
                </a:solidFill>
                <a:latin typeface="Karla"/>
              </a:rPr>
              <a:t>Activación Afín: </a:t>
            </a:r>
            <a:r>
              <a:rPr sz="1000">
                <a:solidFill>
                  <a:srgbClr val="222222"/>
                </a:solidFill>
                <a:latin typeface="Karla"/>
              </a:rPr>
              <a:t>Combinación lineal de entradas y sesgo:
z_j = Σ w_ji a_i + b_j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0E2A47"/>
                </a:solidFill>
                <a:latin typeface="Karla"/>
              </a:rPr>
              <a:t>Sigmoide Logística: </a:t>
            </a:r>
            <a:r>
              <a:rPr sz="1000">
                <a:solidFill>
                  <a:srgbClr val="222222"/>
                </a:solidFill>
                <a:latin typeface="Karla"/>
              </a:rPr>
              <a:t>Mapeo probabilístico no lineal:
a_j = σ(z_j) = 1 / (1 + e^(-z_j))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0E2A47"/>
                </a:solidFill>
                <a:latin typeface="Karla"/>
              </a:rPr>
              <a:t>Derivada Elegante: </a:t>
            </a:r>
            <a:r>
              <a:rPr sz="1000">
                <a:solidFill>
                  <a:srgbClr val="222222"/>
                </a:solidFill>
                <a:latin typeface="Karla"/>
              </a:rPr>
              <a:t>Cálculo computacional ultra eficiente:
σ'(z_j) = a_j (1 - a_j)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0E2A47"/>
                </a:solidFill>
                <a:latin typeface="Karla"/>
              </a:rPr>
              <a:t>Costo Global (MSE): </a:t>
            </a:r>
            <a:r>
              <a:rPr sz="1000">
                <a:solidFill>
                  <a:srgbClr val="222222"/>
                </a:solidFill>
                <a:latin typeface="Karla"/>
              </a:rPr>
              <a:t>Superficie de pérdida diferenciable:
E = ½ Σ_k (y_k - t_k)²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4136" y="1188720"/>
            <a:ext cx="2395728" cy="3566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83864" y="1280160"/>
            <a:ext cx="217627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5D74"/>
                </a:solidFill>
                <a:latin typeface="DM Serif Display"/>
              </a:defRPr>
            </a:pPr>
            <a:r>
              <a:t>2. Retropropagación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435D74"/>
                </a:solidFill>
                <a:latin typeface="Karla"/>
              </a:rPr>
              <a:t>Regla de la Cadena: </a:t>
            </a:r>
            <a:r>
              <a:rPr sz="1000">
                <a:solidFill>
                  <a:srgbClr val="222222"/>
                </a:solidFill>
                <a:latin typeface="Karla"/>
              </a:rPr>
              <a:t>Descomposición analítica exacta:
∂E/∂w_kj = δ_k · a_j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435D74"/>
                </a:solidFill>
                <a:latin typeface="Karla"/>
              </a:rPr>
              <a:t>Gradiente en Salida: </a:t>
            </a:r>
            <a:r>
              <a:rPr sz="1000">
                <a:solidFill>
                  <a:srgbClr val="222222"/>
                </a:solidFill>
                <a:latin typeface="Karla"/>
              </a:rPr>
              <a:t>Sensibilidad del nodo de salida:
δ_k = (y_k - t_k) · y_k (1 - y_k)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435D74"/>
                </a:solidFill>
                <a:latin typeface="Karla"/>
              </a:rPr>
              <a:t>Retroceso a Ocultas: </a:t>
            </a:r>
            <a:r>
              <a:rPr sz="1000">
                <a:solidFill>
                  <a:srgbClr val="222222"/>
                </a:solidFill>
                <a:latin typeface="Karla"/>
              </a:rPr>
              <a:t>Propagación hacia atrás del error:
δ_j = [Σ_k w_kj δ_k] · a_j (1 - a_j)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435D74"/>
                </a:solidFill>
                <a:latin typeface="Karla"/>
              </a:rPr>
              <a:t>Complejidad O(N): </a:t>
            </a:r>
            <a:r>
              <a:rPr sz="1000">
                <a:solidFill>
                  <a:srgbClr val="222222"/>
                </a:solidFill>
                <a:latin typeface="Karla"/>
              </a:rPr>
              <a:t>Cálculo en tiempo lineal respecto al número de sinapsis de la 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1032" y="1188720"/>
            <a:ext cx="2395728" cy="3566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280160"/>
            <a:ext cx="217627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8664A"/>
                </a:solidFill>
                <a:latin typeface="DM Serif Display"/>
              </a:defRPr>
            </a:pPr>
            <a:r>
              <a:t>3. Momento Inercial β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88664A"/>
                </a:solidFill>
                <a:latin typeface="Karla"/>
              </a:rPr>
              <a:t>Regla Delta Generalizada: </a:t>
            </a:r>
            <a:r>
              <a:rPr sz="1000">
                <a:solidFill>
                  <a:srgbClr val="222222"/>
                </a:solidFill>
                <a:latin typeface="Karla"/>
              </a:rPr>
              <a:t>ΔW^(t) = -η ∇E + β ΔW^(t-1), incorporando memoria histórica inercial.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88664A"/>
                </a:solidFill>
                <a:latin typeface="Karla"/>
              </a:rPr>
              <a:t>Dinámica Hamiltoniana: </a:t>
            </a:r>
            <a:r>
              <a:rPr sz="1000">
                <a:solidFill>
                  <a:srgbClr val="222222"/>
                </a:solidFill>
                <a:latin typeface="Karla"/>
              </a:rPr>
              <a:t>Análogo a partícula clásica con masa en potencial gravitatorio con fricción viscosa.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88664A"/>
                </a:solidFill>
                <a:latin typeface="Karla"/>
              </a:rPr>
              <a:t>Filtro Pasa-Bajos: </a:t>
            </a:r>
            <a:r>
              <a:rPr sz="1000">
                <a:solidFill>
                  <a:srgbClr val="222222"/>
                </a:solidFill>
                <a:latin typeface="Karla"/>
              </a:rPr>
              <a:t>Amortigua oscilaciones ortogonales de alta frecuencia en valles escarpados.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88664A"/>
                </a:solidFill>
                <a:latin typeface="Karla"/>
              </a:rPr>
              <a:t>▪ </a:t>
            </a:r>
            <a:r>
              <a:rPr sz="1000" b="1">
                <a:solidFill>
                  <a:srgbClr val="88664A"/>
                </a:solidFill>
                <a:latin typeface="Karla"/>
              </a:rPr>
              <a:t>Evasión de Mesetas: </a:t>
            </a:r>
            <a:r>
              <a:rPr sz="1000">
                <a:solidFill>
                  <a:srgbClr val="222222"/>
                </a:solidFill>
                <a:latin typeface="Karla"/>
              </a:rPr>
              <a:t>Acelera a lo largo de crestas con gradiente tenue, evitando estancamiento en saturación.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03. EXPERIMENTACIÓN CANÓNICA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Validación Canónica XOR y Aceleración Inercial 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3977639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superficie_3d_eta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61872"/>
            <a:ext cx="379476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422452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595959"/>
                </a:solidFill>
              </a:defRPr>
            </a:pPr>
            <a:r>
              <a:t>Figura: Superficie de épocas de convergencia en el plano (η, β) para XOR.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188720"/>
            <a:ext cx="347472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2004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  <a:latin typeface="DM Serif Display"/>
              </a:defRPr>
            </a:pPr>
            <a:r>
              <a:t>Resultados Cuantitativos en XOR</a:t>
            </a:r>
          </a:p>
          <a:p>
            <a:pPr algn="l">
              <a:spcAft>
                <a:spcPts val="500"/>
              </a:spcAft>
            </a:pPr>
            <a:r>
              <a:rPr sz="880" b="1">
                <a:solidFill>
                  <a:srgbClr val="88664A"/>
                </a:solidFill>
                <a:latin typeface="Karla"/>
              </a:rPr>
              <a:t>▪ </a:t>
            </a:r>
            <a:r>
              <a:rPr sz="980" b="1">
                <a:solidFill>
                  <a:srgbClr val="0E2A47"/>
                </a:solidFill>
                <a:latin typeface="Karla"/>
              </a:rPr>
              <a:t>Convergencia Absoluta: </a:t>
            </a:r>
            <a:r>
              <a:rPr sz="980">
                <a:solidFill>
                  <a:srgbClr val="222222"/>
                </a:solidFill>
                <a:latin typeface="Karla"/>
              </a:rPr>
              <a:t>100.0% de exactitud en XOR-2 y XOR-3 (paridad de 3 bits), frente al colapso del Perceptrón monocapa (50.0%).</a:t>
            </a:r>
          </a:p>
          <a:p>
            <a:pPr algn="l">
              <a:spcAft>
                <a:spcPts val="500"/>
              </a:spcAft>
            </a:pPr>
            <a:r>
              <a:rPr sz="880" b="1">
                <a:solidFill>
                  <a:srgbClr val="88664A"/>
                </a:solidFill>
                <a:latin typeface="Karla"/>
              </a:rPr>
              <a:t>▪ </a:t>
            </a:r>
            <a:r>
              <a:rPr sz="980" b="1">
                <a:solidFill>
                  <a:srgbClr val="0E2A47"/>
                </a:solidFill>
                <a:latin typeface="Karla"/>
              </a:rPr>
              <a:t>Aceleración del 87.4%: </a:t>
            </a:r>
            <a:r>
              <a:rPr sz="980">
                <a:solidFill>
                  <a:srgbClr val="222222"/>
                </a:solidFill>
                <a:latin typeface="Karla"/>
              </a:rPr>
              <a:t>Con β = 0.9 frente a β = 0.0, las épocas requeridas caen drásticamente de 621 a 78 épocas (reducción masiva).</a:t>
            </a:r>
          </a:p>
          <a:p>
            <a:pPr algn="l">
              <a:spcAft>
                <a:spcPts val="500"/>
              </a:spcAft>
            </a:pPr>
            <a:r>
              <a:rPr sz="880" b="1">
                <a:solidFill>
                  <a:srgbClr val="88664A"/>
                </a:solidFill>
                <a:latin typeface="Karla"/>
              </a:rPr>
              <a:t>▪ </a:t>
            </a:r>
            <a:r>
              <a:rPr sz="980" b="1">
                <a:solidFill>
                  <a:srgbClr val="0E2A47"/>
                </a:solidFill>
                <a:latin typeface="Karla"/>
              </a:rPr>
              <a:t>Óptimo Global Localizado: </a:t>
            </a:r>
            <a:r>
              <a:rPr sz="980">
                <a:solidFill>
                  <a:srgbClr val="222222"/>
                </a:solidFill>
                <a:latin typeface="Karla"/>
              </a:rPr>
              <a:t>Punto mínimo alcanzado en η = 0.50 y β = 0.90 con MSE final &lt; 10⁻⁴ en tan solo 78 épocas.</a:t>
            </a:r>
          </a:p>
          <a:p>
            <a:pPr algn="l">
              <a:spcAft>
                <a:spcPts val="500"/>
              </a:spcAft>
            </a:pPr>
            <a:r>
              <a:rPr sz="880" b="1">
                <a:solidFill>
                  <a:srgbClr val="88664A"/>
                </a:solidFill>
                <a:latin typeface="Karla"/>
              </a:rPr>
              <a:t>▪ </a:t>
            </a:r>
            <a:r>
              <a:rPr sz="980" b="1">
                <a:solidFill>
                  <a:srgbClr val="0E2A47"/>
                </a:solidFill>
                <a:latin typeface="Karla"/>
              </a:rPr>
              <a:t>Estabilidad Numérica: </a:t>
            </a:r>
            <a:r>
              <a:rPr sz="980">
                <a:solidFill>
                  <a:srgbClr val="222222"/>
                </a:solidFill>
                <a:latin typeface="Karla"/>
              </a:rPr>
              <a:t>Para η &gt; 1.2 sin momento se observa inestabilidad oscilatoria; β actúa como amortiguador inercial.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977639"/>
            <a:ext cx="3200400" cy="713232"/>
          </a:xfrm>
          <a:prstGeom prst="roundRect">
            <a:avLst/>
          </a:prstGeom>
          <a:solidFill>
            <a:srgbClr val="EE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4023360"/>
            <a:ext cx="30175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E6937"/>
                </a:solidFill>
              </a:defRPr>
            </a:pPr>
            <a:r>
              <a:t>✓ SÍNTESIS XOR: El momento inercial β provee casi un orden de magnitud de aceleración computacional conservando la fidelidad analítica.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04. INTERPRETACIÓN GEOMÉTRICA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Demostración Geométrica en el Espacio Latente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489204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6_fronteras_decision_espacio_entrada_y_lat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61872"/>
            <a:ext cx="470916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4224528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595959"/>
                </a:solidFill>
              </a:defRPr>
            </a:pPr>
            <a:r>
              <a:t>Figura: Frontera no lineal en ℝ² (izq.) vs. Desdoblamiento lineal en espacio latente ℋ (der.).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188720"/>
            <a:ext cx="256032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25312" y="1280160"/>
            <a:ext cx="232257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  <a:latin typeface="DM Serif Display"/>
              </a:defRPr>
            </a:pPr>
            <a:r>
              <a:t>El Mecanismo de Desenredo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Proyección Phi: </a:t>
            </a:r>
            <a:r>
              <a:rPr sz="950">
                <a:solidFill>
                  <a:srgbClr val="222222"/>
                </a:solidFill>
                <a:latin typeface="Karla"/>
              </a:rPr>
              <a:t>La capa oculta [h₁, h₂] mapea los vértices {0,1}² a [0,1]².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Colapso Topológico: </a:t>
            </a:r>
            <a:r>
              <a:rPr sz="950">
                <a:solidFill>
                  <a:srgbClr val="222222"/>
                </a:solidFill>
                <a:latin typeface="Karla"/>
              </a:rPr>
              <a:t>(0,0) y (1,1) se proyectan en regiones contiguas; (0,1) y (1,0) quedan agrupados.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Separabilidad Lineal: </a:t>
            </a:r>
            <a:r>
              <a:rPr sz="950">
                <a:solidFill>
                  <a:srgbClr val="222222"/>
                </a:solidFill>
                <a:latin typeface="Karla"/>
              </a:rPr>
              <a:t>En ℋ, un único hiperplano lineal separa perfectamente ambas clases.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Resolución de Paradoja: </a:t>
            </a:r>
            <a:r>
              <a:rPr sz="950">
                <a:solidFill>
                  <a:srgbClr val="222222"/>
                </a:solidFill>
                <a:latin typeface="Karla"/>
              </a:rPr>
              <a:t>Lo no lineal en ℝ² se convierte en trivialmente lineal en el espacio latente.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25312" y="3977639"/>
            <a:ext cx="2322576" cy="713232"/>
          </a:xfrm>
          <a:prstGeom prst="round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4023360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19" b="1">
                <a:solidFill>
                  <a:srgbClr val="735236"/>
                </a:solidFill>
              </a:defRPr>
            </a:pPr>
            <a:r>
              <a:t>★ CLAVE TEÓRICA: Las capas intermedias no clasifican; aprenden representaciones donde el problema es separable.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05. GENERALIZACIÓN MULTICLASE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Clasificación Multiclase: Benchmark Fisher's Iris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475488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ris_matriz_confusion_mejor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61872"/>
            <a:ext cx="457200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422452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595959"/>
                </a:solidFill>
              </a:defRPr>
            </a:pPr>
            <a:r>
              <a:t>Figura: Curvas de convergencia y matriz de confusión en test para modelo CONF-08.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269748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79008" y="1280160"/>
            <a:ext cx="247802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  <a:latin typeface="DM Serif Display"/>
              </a:defRPr>
            </a:pPr>
            <a:r>
              <a:t>Modelo Óptimo CONF-08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Topología: </a:t>
            </a:r>
            <a:r>
              <a:rPr sz="950">
                <a:solidFill>
                  <a:srgbClr val="222222"/>
                </a:solidFill>
                <a:latin typeface="Karla"/>
              </a:rPr>
              <a:t>Red profunda [4, 8, 4, 3] con salida One-Hot multiclase.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Exactitud en Test: </a:t>
            </a:r>
            <a:r>
              <a:rPr sz="950">
                <a:solidFill>
                  <a:srgbClr val="222222"/>
                </a:solidFill>
                <a:latin typeface="Karla"/>
              </a:rPr>
              <a:t>93.33% de exactitud global independiente.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F₁-Score Macro: </a:t>
            </a:r>
            <a:r>
              <a:rPr sz="950">
                <a:solidFill>
                  <a:srgbClr val="222222"/>
                </a:solidFill>
                <a:latin typeface="Karla"/>
              </a:rPr>
              <a:t>0.9327 reflejando equilibrio perfecto entre clases.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Setosa: </a:t>
            </a:r>
            <a:r>
              <a:rPr sz="950">
                <a:solidFill>
                  <a:srgbClr val="222222"/>
                </a:solidFill>
                <a:latin typeface="Karla"/>
              </a:rPr>
              <a:t>100.0% de precisión y recall (separabilidad lineal total).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Versicolor / Virginica: </a:t>
            </a:r>
            <a:r>
              <a:rPr sz="950">
                <a:solidFill>
                  <a:srgbClr val="222222"/>
                </a:solidFill>
                <a:latin typeface="Karla"/>
              </a:rPr>
              <a:t>Frontera curva que desarticula el solapamiento morfológico.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9008" y="3977639"/>
            <a:ext cx="2478024" cy="713232"/>
          </a:xfrm>
          <a:prstGeom prst="round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4023360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0E2A47"/>
                </a:solidFill>
              </a:defRPr>
            </a:pPr>
            <a:r>
              <a:t>DESGLOSE DE ACIERTO EN TEST (N=45):</a:t>
            </a:r>
            <a:br/>
            <a:r>
              <a:t>• Setosa: 15/15 (100%)  • Versicolor: 15/15 (100%)</a:t>
            </a:r>
            <a:br/>
            <a:r>
              <a:t>• Virginica: 12/15 (80%) por traslape morfológico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06. ROBUSTEZ Y BENCHMARKS REALES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Generalización Multivariable y Resiliencia a Particiones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475488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iciones_comparativa_globa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61872"/>
            <a:ext cx="457200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422452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595959"/>
                </a:solidFill>
              </a:defRPr>
            </a:pPr>
            <a:r>
              <a:t>Figura: Exactitud en test a través de 4 particiones estratificadas (60-40 a 90-10).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269748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79008" y="1280160"/>
            <a:ext cx="247802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  <a:latin typeface="DM Serif Display"/>
              </a:defRPr>
            </a:pPr>
            <a:r>
              <a:t>Rendimiento por Dataset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Banknote: </a:t>
            </a:r>
            <a:r>
              <a:rPr sz="950">
                <a:solidFill>
                  <a:srgbClr val="222222"/>
                </a:solidFill>
                <a:latin typeface="Karla"/>
              </a:rPr>
              <a:t>100.0% de exactitud (80-20). Clasificación perfecta de billetes auténticos vs. falsos.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Breast Cancer: </a:t>
            </a:r>
            <a:r>
              <a:rPr sz="950">
                <a:solidFill>
                  <a:srgbClr val="222222"/>
                </a:solidFill>
                <a:latin typeface="Karla"/>
              </a:rPr>
              <a:t>98.25% exactitud (F₁ = 0.9859). Mínimo clínico de falsos negativos en diagnóstico.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Wine: </a:t>
            </a:r>
            <a:r>
              <a:rPr sz="950">
                <a:solidFill>
                  <a:srgbClr val="222222"/>
                </a:solidFill>
                <a:latin typeface="Karla"/>
              </a:rPr>
              <a:t>100.0% exactitud (80-20) en clasificación de cepas químicas complejas.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Cero Fuga (Leakage): </a:t>
            </a:r>
            <a:r>
              <a:rPr sz="950">
                <a:solidFill>
                  <a:srgbClr val="222222"/>
                </a:solidFill>
                <a:latin typeface="Karla"/>
              </a:rPr>
              <a:t>Estandarización z-score calculada únicamente sobre entrenamiento en cada split.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9008" y="3977639"/>
            <a:ext cx="2478024" cy="713232"/>
          </a:xfrm>
          <a:prstGeom prst="roundRect">
            <a:avLst/>
          </a:prstGeom>
          <a:solidFill>
            <a:srgbClr val="EE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4023360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19" b="1">
                <a:solidFill>
                  <a:srgbClr val="1E6937"/>
                </a:solidFill>
              </a:defRPr>
            </a:pPr>
            <a:r>
              <a:t>✓ RESILIENCIA: Desempeño invariante ante el tamaño del test set, superando en +14.2% de F₁ a los clasificadores monocapa del Taller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07. ANÁLISIS DE COMPLEJIDAD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Patología del Sobreajuste y Divergencia de Varianza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466344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verfitting_curvas_aprendizaje_early_sto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61872"/>
            <a:ext cx="448056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422452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595959"/>
                </a:solidFill>
              </a:defRPr>
            </a:pPr>
            <a:r>
              <a:t>Figura: Curvas de pérdida en red sobreparametrizada (4097 parámetros libres).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188720"/>
            <a:ext cx="278892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87568" y="1280160"/>
            <a:ext cx="256946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  <a:latin typeface="DM Serif Display"/>
              </a:defRPr>
            </a:pPr>
            <a:r>
              <a:t>Las 4 Fases Temporales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Fase I: Subajuste: </a:t>
            </a:r>
            <a:r>
              <a:rPr sz="950">
                <a:solidFill>
                  <a:srgbClr val="222222"/>
                </a:solidFill>
                <a:latin typeface="Karla"/>
              </a:rPr>
              <a:t>Épocas 1–25: Alto sesgo, descenso paralelo de E_train y E_val.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Fase II: Óptimo: </a:t>
            </a:r>
            <a:r>
              <a:rPr sz="950">
                <a:solidFill>
                  <a:srgbClr val="222222"/>
                </a:solidFill>
                <a:latin typeface="Karla"/>
              </a:rPr>
              <a:t>Épocas 25–45: Mínimo de validación global. Compromiso sesgo-varianza ideal.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Fase III: Desacople: </a:t>
            </a:r>
            <a:r>
              <a:rPr sz="950">
                <a:solidFill>
                  <a:srgbClr val="222222"/>
                </a:solidFill>
                <a:latin typeface="Karla"/>
              </a:rPr>
              <a:t>Épocas 45–100: Estancamiento de E_val mientras E_train continúa decreciendo.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Fase IV: Memorización: </a:t>
            </a:r>
            <a:r>
              <a:rPr sz="950">
                <a:solidFill>
                  <a:srgbClr val="222222"/>
                </a:solidFill>
                <a:latin typeface="Karla"/>
              </a:rPr>
              <a:t>Épocas 100–1000: E_train -&gt; 0 mientras E_val asciende patológicamente por varianza.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Ratio Parámetros: </a:t>
            </a:r>
            <a:r>
              <a:rPr sz="950">
                <a:solidFill>
                  <a:srgbClr val="222222"/>
                </a:solidFill>
                <a:latin typeface="Karla"/>
              </a:rPr>
              <a:t>14.43 parámetros por muestra: memorización pura de ruido estocástico.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08. MECANISMO DE CONTROL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Regularización Espectral Mediante Early Stopping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466344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verfitting_comparativa_gener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61872"/>
            <a:ext cx="448056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422452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595959"/>
                </a:solidFill>
              </a:defRPr>
            </a:pPr>
            <a:r>
              <a:t>Figura: Comparativa de errores y brecha de generalización: Sin Regularizar vs. Early Stopping.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188720"/>
            <a:ext cx="2788920" cy="3611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87568" y="1280160"/>
            <a:ext cx="256946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8664A"/>
                </a:solidFill>
                <a:latin typeface="DM Serif Display"/>
              </a:defRPr>
            </a:pPr>
            <a:r>
              <a:t>Impacto Cuantitativo Medido</a:t>
            </a:r>
          </a:p>
          <a:p>
            <a:pPr algn="l">
              <a:spcAft>
                <a:spcPts val="5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88664A"/>
                </a:solidFill>
                <a:latin typeface="Karla"/>
              </a:rPr>
              <a:t>-16.65% en E_test: </a:t>
            </a:r>
            <a:r>
              <a:rPr sz="950">
                <a:solidFill>
                  <a:srgbClr val="222222"/>
                </a:solidFill>
                <a:latin typeface="Karla"/>
              </a:rPr>
              <a:t>El error cuadrático en prueba desciende de 0.0435 a 0.0362 al restaurar el checkpoint óptimo.</a:t>
            </a:r>
          </a:p>
          <a:p>
            <a:pPr algn="l">
              <a:spcAft>
                <a:spcPts val="5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88664A"/>
                </a:solidFill>
                <a:latin typeface="Karla"/>
              </a:rPr>
              <a:t>-37.23% en Brecha: </a:t>
            </a:r>
            <a:r>
              <a:rPr sz="950">
                <a:solidFill>
                  <a:srgbClr val="222222"/>
                </a:solidFill>
                <a:latin typeface="Karla"/>
              </a:rPr>
              <a:t>La discrepancia de generalización |E_val - E_train| se comprime de 0.0401 a 0.0252.</a:t>
            </a:r>
          </a:p>
          <a:p>
            <a:pPr algn="l">
              <a:spcAft>
                <a:spcPts val="5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88664A"/>
                </a:solidFill>
                <a:latin typeface="Karla"/>
              </a:rPr>
              <a:t>95.73% de Ahorro: </a:t>
            </a:r>
            <a:r>
              <a:rPr sz="950">
                <a:solidFill>
                  <a:srgbClr val="222222"/>
                </a:solidFill>
                <a:latin typeface="Karla"/>
              </a:rPr>
              <a:t>Entrenamiento detenido en época 43 en lugar de 1000: economía computacional y energética radical.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88664A"/>
                </a:solidFill>
                <a:latin typeface="Karla"/>
              </a:rPr>
              <a:t>Equivalencia L₂: </a:t>
            </a:r>
            <a:r>
              <a:rPr sz="950">
                <a:solidFill>
                  <a:srgbClr val="222222"/>
                </a:solidFill>
                <a:latin typeface="Karla"/>
              </a:rPr>
              <a:t>Actúa como decaimiento de peso implícito (weight decay), acotando la norma ||W||₂ sin costo adicional.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09. SÍNTESIS PARADIGMÁTICA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Comparativa Multidimensional y Directrices de Ingeniería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188720"/>
          <a:ext cx="7589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920240"/>
                <a:gridCol w="1920240"/>
                <a:gridCol w="20574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Karla"/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Karla"/>
                        </a:defRPr>
                      </a:pPr>
                      <a:r>
                        <a:t>Perceptrón Simple (1958)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Karla"/>
                        </a:defRPr>
                      </a:pPr>
                      <a:r>
                        <a:t>Adaline (1960)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Karla"/>
                        </a:defRPr>
                      </a:pPr>
                      <a:r>
                        <a:t>MLP con Backprop (1986)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Capacidad de Frontera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Hiperplano lineal en ℝⁿ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Hiperplano lineal en ℝⁿ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2A47"/>
                          </a:solidFill>
                          <a:latin typeface="Karla"/>
                        </a:defRPr>
                      </a:pPr>
                      <a:r>
                        <a:t>Hipersuperficie no lineal continua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Función Activación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Escalón Heaviside (discontinua)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Identidad lineal f(z) = z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2A47"/>
                          </a:solidFill>
                          <a:latin typeface="Karla"/>
                        </a:defRPr>
                      </a:pPr>
                      <a:r>
                        <a:t>Sigmoide / Tanh (diferenciable)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Regla de Aprendizaje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Regla Perceptrón: Δw = η(t-y)x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Gradiente LMS: Δw = η(t-z)x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2A47"/>
                          </a:solidFill>
                          <a:latin typeface="Karla"/>
                        </a:defRPr>
                      </a:pPr>
                      <a:r>
                        <a:t>Delta Generalizada + Inercia 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Convergencia XOR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Fracaso (Exactitud = 50.0%)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22222"/>
                          </a:solidFill>
                          <a:latin typeface="Karla"/>
                        </a:defRPr>
                      </a:pPr>
                      <a:r>
                        <a:t>Fracaso (Exactitud = 50.0%)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2A47"/>
                          </a:solidFill>
                          <a:latin typeface="Karla"/>
                        </a:defRPr>
                      </a:pPr>
                      <a:r>
                        <a:t>Convergencia Perfecta (100.0%)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" y="3337560"/>
            <a:ext cx="7589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01568"/>
            <a:ext cx="7315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88664A"/>
                </a:solidFill>
                <a:latin typeface="DM Serif Display"/>
              </a:defRPr>
            </a:pPr>
            <a:r>
              <a:t>Directrices Prácticas de Ingeniería Neuronal</a:t>
            </a:r>
          </a:p>
          <a:p>
            <a:pPr algn="l">
              <a:spcAft>
                <a:spcPts val="3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1. Normalización Rigurosa: </a:t>
            </a:r>
            <a:r>
              <a:rPr sz="950">
                <a:solidFill>
                  <a:srgbClr val="222222"/>
                </a:solidFill>
                <a:latin typeface="Karla"/>
              </a:rPr>
              <a:t>Estandarizar siempre z-score derivado exclusivamente del train set para evitar fugas de información.</a:t>
            </a:r>
          </a:p>
          <a:p>
            <a:pPr algn="l">
              <a:spcAft>
                <a:spcPts val="3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2. Inicialización Simétrica: </a:t>
            </a:r>
            <a:r>
              <a:rPr sz="950">
                <a:solidFill>
                  <a:srgbClr val="222222"/>
                </a:solidFill>
                <a:latin typeface="Karla"/>
              </a:rPr>
              <a:t>Pesos pequeños aleatorios w ~ U(-r, r) o Xavier/Glorot para eludir saturación prematura de gradiente.</a:t>
            </a:r>
          </a:p>
          <a:p>
            <a:pPr algn="l">
              <a:spcAft>
                <a:spcPts val="3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3. Momento Inercial β ∈ [0.7, 0.9]: </a:t>
            </a:r>
            <a:r>
              <a:rPr sz="950">
                <a:solidFill>
                  <a:srgbClr val="222222"/>
                </a:solidFill>
                <a:latin typeface="Karla"/>
              </a:rPr>
              <a:t>Imprescindible para acelerar convergencia y atravesar cañones escarpados sin oscilación.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88664A"/>
                </a:solidFill>
                <a:latin typeface="Karla"/>
              </a:rPr>
              <a:t>▪ </a:t>
            </a:r>
            <a:r>
              <a:rPr sz="950" b="1">
                <a:solidFill>
                  <a:srgbClr val="0E2A47"/>
                </a:solidFill>
                <a:latin typeface="Karla"/>
              </a:rPr>
              <a:t>4. Parada Temprana (Paciencia): </a:t>
            </a:r>
            <a:r>
              <a:rPr sz="950">
                <a:solidFill>
                  <a:srgbClr val="222222"/>
                </a:solidFill>
                <a:latin typeface="Karla"/>
              </a:rPr>
              <a:t>Monitorear E_val para restaurar checkpoint óptimo y evitar sobrecosto de sobreajuste.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347472"/>
            <a:ext cx="7589520" cy="777240"/>
          </a:xfrm>
        </p:spPr>
        <p:txBody>
          <a:bodyPr wrap="square" lIns="0" tIns="0" rIns="0" bIns="0"/>
          <a:lstStyle/>
          <a:p>
            <a:pPr algn="l"/>
            <a:r>
              <a:rPr sz="950" b="1">
                <a:solidFill>
                  <a:srgbClr val="88664A"/>
                </a:solidFill>
                <a:latin typeface="Karla"/>
              </a:rPr>
              <a:t>10. CONCLUSIONES EJECUTIVAS
</a:t>
            </a:r>
            <a:r>
              <a:rPr sz="2100" b="1">
                <a:solidFill>
                  <a:srgbClr val="0E2A47"/>
                </a:solidFill>
                <a:latin typeface="DM Serif Display"/>
              </a:rPr>
              <a:t>Conclusiones y Aportes del Taller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3657600" cy="1691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61872"/>
            <a:ext cx="3383280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2A47"/>
                </a:solidFill>
                <a:latin typeface="DM Serif Display"/>
              </a:defRPr>
            </a:pPr>
            <a:r>
              <a:t>1. Superación de la Barrera Lineal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0E2A47"/>
                </a:solidFill>
                <a:latin typeface="Karla"/>
              </a:rPr>
              <a:t>Desenredo Geométrico: </a:t>
            </a:r>
            <a:r>
              <a:rPr sz="930">
                <a:solidFill>
                  <a:srgbClr val="222222"/>
                </a:solidFill>
                <a:latin typeface="Karla"/>
              </a:rPr>
              <a:t>Las capas ocultas desdoblan variedades no separables, logrando 100% en XOR frente al 50% monocapa.</a:t>
            </a:r>
          </a:p>
          <a:p>
            <a:pPr algn="l">
              <a:spcAft>
                <a:spcPts val="2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0E2A47"/>
                </a:solidFill>
                <a:latin typeface="Karla"/>
              </a:rPr>
              <a:t>Aproximación Universal: </a:t>
            </a:r>
            <a:r>
              <a:rPr sz="930">
                <a:solidFill>
                  <a:srgbClr val="222222"/>
                </a:solidFill>
                <a:latin typeface="Karla"/>
              </a:rPr>
              <a:t>Se valida que neuronas sigmoideas intermedias aproximan cualquier frontera continua arbitraria.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188720"/>
            <a:ext cx="3657600" cy="1691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261872"/>
            <a:ext cx="3383280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88664A"/>
                </a:solidFill>
                <a:latin typeface="DM Serif Display"/>
              </a:defRPr>
            </a:pPr>
            <a:r>
              <a:t>2. Aceleración Inercial β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88664A"/>
                </a:solidFill>
                <a:latin typeface="Karla"/>
              </a:rPr>
              <a:t>87.4% Más Rápido: </a:t>
            </a:r>
            <a:r>
              <a:rPr sz="930">
                <a:solidFill>
                  <a:srgbClr val="222222"/>
                </a:solidFill>
                <a:latin typeface="Karla"/>
              </a:rPr>
              <a:t>β = 0.9 reduce las épocas de 621 a 78 y suprime oscilaciones transversales en cañones estrechos.</a:t>
            </a:r>
          </a:p>
          <a:p>
            <a:pPr algn="l">
              <a:spcAft>
                <a:spcPts val="2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88664A"/>
                </a:solidFill>
                <a:latin typeface="Karla"/>
              </a:rPr>
              <a:t>Inercia Dinámica: </a:t>
            </a:r>
            <a:r>
              <a:rPr sz="930">
                <a:solidFill>
                  <a:srgbClr val="222222"/>
                </a:solidFill>
                <a:latin typeface="Karla"/>
              </a:rPr>
              <a:t>Actúa como filtro pasa-bajos que acumula velocidad en la dirección del gradiente persistente.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3657600" cy="1691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3383280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35D74"/>
                </a:solidFill>
                <a:latin typeface="DM Serif Display"/>
              </a:defRPr>
            </a:pPr>
            <a:r>
              <a:t>3. Resiliencia en Problemas Reales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435D74"/>
                </a:solidFill>
                <a:latin typeface="Karla"/>
              </a:rPr>
              <a:t>Benchmarks Reales: </a:t>
            </a:r>
            <a:r>
              <a:rPr sz="930">
                <a:solidFill>
                  <a:srgbClr val="222222"/>
                </a:solidFill>
                <a:latin typeface="Karla"/>
              </a:rPr>
              <a:t>100% en Banknote y Wine, 98.25% en Breast Cancer y 93.33% en Iris con estabilidad ante 4 particiones.</a:t>
            </a:r>
          </a:p>
          <a:p>
            <a:pPr algn="l">
              <a:spcAft>
                <a:spcPts val="2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435D74"/>
                </a:solidFill>
                <a:latin typeface="Karla"/>
              </a:rPr>
              <a:t>Generalización: </a:t>
            </a:r>
            <a:r>
              <a:rPr sz="930">
                <a:solidFill>
                  <a:srgbClr val="222222"/>
                </a:solidFill>
                <a:latin typeface="Karla"/>
              </a:rPr>
              <a:t>Previene data leakage mediante normalización z-score estricta dentro de cada partición de treino.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3017520"/>
            <a:ext cx="3657600" cy="1691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090672"/>
            <a:ext cx="3383280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6937"/>
                </a:solidFill>
                <a:latin typeface="DM Serif Display"/>
              </a:defRPr>
            </a:pPr>
            <a:r>
              <a:t>4. Regularización por Early Stopping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1E6937"/>
                </a:solidFill>
                <a:latin typeface="Karla"/>
              </a:rPr>
              <a:t>Control Espectral: </a:t>
            </a:r>
            <a:r>
              <a:rPr sz="930">
                <a:solidFill>
                  <a:srgbClr val="222222"/>
                </a:solidFill>
                <a:latin typeface="Karla"/>
              </a:rPr>
              <a:t>-16.65% en E_test, -37.23% en brecha de generalización y 95.73% de ahorro en épocas.</a:t>
            </a:r>
          </a:p>
          <a:p>
            <a:pPr algn="l">
              <a:spcAft>
                <a:spcPts val="200"/>
              </a:spcAft>
            </a:pPr>
            <a:r>
              <a:rPr sz="830" b="1">
                <a:solidFill>
                  <a:srgbClr val="88664A"/>
                </a:solidFill>
                <a:latin typeface="Karla"/>
              </a:rPr>
              <a:t>▪ </a:t>
            </a:r>
            <a:r>
              <a:rPr sz="930" b="1">
                <a:solidFill>
                  <a:srgbClr val="1E6937"/>
                </a:solidFill>
                <a:latin typeface="Karla"/>
              </a:rPr>
              <a:t>Equivalencia L₂: </a:t>
            </a:r>
            <a:r>
              <a:rPr sz="930">
                <a:solidFill>
                  <a:srgbClr val="222222"/>
                </a:solidFill>
                <a:latin typeface="Karla"/>
              </a:rPr>
              <a:t>Funciona como penalización implícita de pesos, restringiendo el radio espectral sin hiperparámetros extra.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Hepatitis Clinical Case by Slidesgo">
  <a:themeElements>
    <a:clrScheme name="Simple Light">
      <a:dk1>
        <a:srgbClr val="000000"/>
      </a:dk1>
      <a:lt1>
        <a:srgbClr val="FFFFFF"/>
      </a:lt1>
      <a:dk2>
        <a:srgbClr val="88664A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